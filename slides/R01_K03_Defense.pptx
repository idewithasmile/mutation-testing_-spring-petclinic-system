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1"/>
  </p:sldMasterIdLst>
  <p:notesMasterIdLst>
    <p:notesMasterId r:id="rIdNotesMaster1"/>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Lst>
  <p:sldSz cx="12192000" cy="6858000" type="screen16x9"/>
  <p:notesSz cx="6858000" cy="9144000"/>
</p:presentation>
</file>

<file path=ppt/_rels/presentation.xml.rels><?xml version="1.0" encoding="UTF-8" standalone="yes"?>
<Relationships xmlns="http://schemas.openxmlformats.org/package/2006/relationships">
  <Relationship Id="rIdMaster1" Type="http://schemas.openxmlformats.org/officeDocument/2006/relationships/slideMaster" Target="slideMasters/slideMaster1.xml"/>
  <Relationship Id="rIdNotesMaster1" Type="http://schemas.openxmlformats.org/officeDocument/2006/relationships/notesMaster" Target="notesMasters/notesMaster1.xml"/>
  <Relationship Id="rIdTheme1" Type="http://schemas.openxmlformats.org/officeDocument/2006/relationships/theme" Target="theme/theme1.xml"/>
  <Relationship Id="rIdSlide1" Type="http://schemas.openxmlformats.org/officeDocument/2006/relationships/slide" Target="slides/slide1.xml"/>
  <Relationship Id="rIdSlide2" Type="http://schemas.openxmlformats.org/officeDocument/2006/relationships/slide" Target="slides/slide2.xml"/>
  <Relationship Id="rIdSlide3" Type="http://schemas.openxmlformats.org/officeDocument/2006/relationships/slide" Target="slides/slide3.xml"/>
  <Relationship Id="rIdSlide4" Type="http://schemas.openxmlformats.org/officeDocument/2006/relationships/slide" Target="slides/slide4.xml"/>
  <Relationship Id="rIdSlide5" Type="http://schemas.openxmlformats.org/officeDocument/2006/relationships/slide" Target="slides/slide5.xml"/>
  <Relationship Id="rIdSlide6" Type="http://schemas.openxmlformats.org/officeDocument/2006/relationships/slide" Target="slides/slide6.xml"/>
  <Relationship Id="rIdSlide7" Type="http://schemas.openxmlformats.org/officeDocument/2006/relationships/slide" Target="slides/slide7.xml"/>
  <Relationship Id="rIdSlide8" Type="http://schemas.openxmlformats.org/officeDocument/2006/relationships/slide" Target="slides/slide8.xml"/>
  <Relationship Id="rIdSlide9" Type="http://schemas.openxmlformats.org/officeDocument/2006/relationships/slide" Target="slides/slide9.xml"/>
  <Relationship Id="rIdSlide10" Type="http://schemas.openxmlformats.org/officeDocument/2006/relationships/slide" Target="slides/slide10.xml"/>
  <Relationship Id="rIdSlide11" Type="http://schemas.openxmlformats.org/officeDocument/2006/relationships/slide" Target="slides/slide11.xml"/>
  <Relationship Id="rIdSlide12" Type="http://schemas.openxmlformats.org/officeDocument/2006/relationships/slide" Target="slides/slide12.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
  <Relationship Id="rIdSlide" Type="http://schemas.openxmlformats.org/officeDocument/2006/relationships/slide" Target="../slides/slide1.xml"/>
  <Relationship Id="rIdNotesMaster"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
  <Relationship Id="rIdSlide" Type="http://schemas.openxmlformats.org/officeDocument/2006/relationships/slide" Target="../slides/slide2.xml"/>
  <Relationship Id="rIdNotesMaster"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
  <Relationship Id="rIdSlide" Type="http://schemas.openxmlformats.org/officeDocument/2006/relationships/slide" Target="../slides/slide3.xml"/>
  <Relationship Id="rIdNotesMaster"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
  <Relationship Id="rIdSlide" Type="http://schemas.openxmlformats.org/officeDocument/2006/relationships/slide" Target="../slides/slide4.xml"/>
  <Relationship Id="rIdNotesMaster"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
  <Relationship Id="rIdSlide" Type="http://schemas.openxmlformats.org/officeDocument/2006/relationships/slide" Target="../slides/slide5.xml"/>
  <Relationship Id="rIdNotesMaster"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
  <Relationship Id="rIdSlide" Type="http://schemas.openxmlformats.org/officeDocument/2006/relationships/slide" Target="../slides/slide6.xml"/>
  <Relationship Id="rIdNotesMaster"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
  <Relationship Id="rIdSlide" Type="http://schemas.openxmlformats.org/officeDocument/2006/relationships/slide" Target="../slides/slide7.xml"/>
  <Relationship Id="rIdNotesMaster"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
  <Relationship Id="rIdSlide" Type="http://schemas.openxmlformats.org/officeDocument/2006/relationships/slide" Target="../slides/slide8.xml"/>
  <Relationship Id="rIdNotesMaster"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
  <Relationship Id="rIdSlide" Type="http://schemas.openxmlformats.org/officeDocument/2006/relationships/slide" Target="../slides/slide9.xml"/>
  <Relationship Id="rIdNotesMaster"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
  <Relationship Id="rIdSlide" Type="http://schemas.openxmlformats.org/officeDocument/2006/relationships/slide" Target="../slides/slide10.xml"/>
  <Relationship Id="rIdNotesMaster"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
  <Relationship Id="rIdSlide" Type="http://schemas.openxmlformats.org/officeDocument/2006/relationships/slide" Target="../slides/slide11.xml"/>
  <Relationship Id="rIdNotesMaster"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
  <Relationship Id="rIdSlide" Type="http://schemas.openxmlformats.org/officeDocument/2006/relationships/slide" Target="../slides/slide12.xml"/>
  <Relationship Id="rIdNotesMaster"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nvSpPr>
        <p:spPr>
          <a:xfrm>
            <a:off x="685800" y="685800"/>
            <a:ext cx="5486400" cy="3086100"/>
          </a:xfrm>
        </p:spPr>
      </p:sp>
      <p:sp>
        <p:nvSpPr>
          <p:cNvPr id="3" name="Notes Text"/>
          <p:cNvSpPr/>
          <p:nvPr/>
        </p:nvSpPr>
        <p:spPr>
          <a:xfrm>
            <a:off x="685800" y="4114800"/>
            <a:ext cx="5486400" cy="4572000"/>
          </a:xfrm>
        </p:spPr>
        <p:txBody>
          <a:bodyPr/>
          <a:p>
            <a:r>
              <a:rPr lang="vi-VN" sz="1400" b="1">
                <a:solidFill>
                  <a:srgbClr val="000000"/>
                </a:solidFill>
              </a:rPr>
              <a:t>[SPEAKER NOTES — TV1 (Trịnh Trung Hiếu) | Thời lượng: 60s (00:00 - 01:00)]
</a:t>
            </a:r>
            <a:r>
              <a:rPr lang="vi-VN" sz="1300">
                <a:solidFill>
                  <a:srgbClr val="333333"/>
                </a:solidFill>
              </a:rPr>
              <a:t>Kính thưa Thầy Nguyễn Thế Lâm và toàn thể Hội đồng, hôm nay nhóm 20 xin trân trọng báo cáo kết quả thực hiện đề tài kết hợp R01 và K03: Kiểm thử đột biến bằng PIT trên hệ thống Spring PetClinic. Nhóm chúng em gồm 5 thành viên được phân công chuyên biệt theo đúng quy trình công nghệ phần mềm chuyên nghiệp. Với cam kết khoa học nghiêm ngặt: không sửa đổi bất kỳ dòng mã nguồn sản phẩm nào, nhóm đã tối ưu hóa toàn diện bộ kiểm thử, nâng Mutation Score từ mức ban đầu 67% lên 98.46%, đạt độ bao phủ dòng tuyệt đối 100% và chứng minh 3 đột biến còn lại là tương đương. Sau đây, xin mời bạn Việt Huy bắt đầu với kiến trúc hệ thống SUT.</a:t>
            </a: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nvSpPr>
        <p:spPr>
          <a:xfrm>
            <a:off x="685800" y="685800"/>
            <a:ext cx="5486400" cy="3086100"/>
          </a:xfrm>
        </p:spPr>
      </p:sp>
      <p:sp>
        <p:nvSpPr>
          <p:cNvPr id="3" name="Notes Text"/>
          <p:cNvSpPr/>
          <p:nvPr/>
        </p:nvSpPr>
        <p:spPr>
          <a:xfrm>
            <a:off x="685800" y="4114800"/>
            <a:ext cx="5486400" cy="4572000"/>
          </a:xfrm>
        </p:spPr>
        <p:txBody>
          <a:bodyPr/>
          <a:p>
            <a:r>
              <a:rPr lang="vi-VN" sz="1400" b="1">
                <a:solidFill>
                  <a:srgbClr val="000000"/>
                </a:solidFill>
              </a:rPr>
              <a:t>[SPEAKER NOTES — TV2 (Trần Đình Việt Huy) | Thời lượng: 90s (01:00 - 02:30)]
</a:t>
            </a:r>
            <a:r>
              <a:rPr lang="vi-VN" sz="1300">
                <a:solidFill>
                  <a:srgbClr val="333333"/>
                </a:solidFill>
              </a:rPr>
              <a:t>Kính thưa Thầy, đối tượng SUT của nhóm là Spring PetClinic, một ứng dụng chuẩn mực trong hệ sinh thái Spring. Để đảm bảo tính khả tái khoa học, nhóm đã khóa cứng commit SHA ngày 29/09/2026. Thay vì chạy đột biến toàn repo gây lãng phí tính toán, nhóm tập trung toàn lực vào gói nghiệp vụ phức tạp nhất là owner.* gồm 8 lớp thực thể, validator và controller. Nhóm đã dựng môi trường thực tế và xác minh thành công cả 3 luồng nghiệp vụ chạy mượt mà trên cổng 8090 với mã HTTP 200. Sau đây xin mời bạn Trung Hiếu trình bày về cơ sở lý thuyết kiểm thử đột biến.</a:t>
            </a: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nvSpPr>
        <p:spPr>
          <a:xfrm>
            <a:off x="685800" y="685800"/>
            <a:ext cx="5486400" cy="3086100"/>
          </a:xfrm>
        </p:spPr>
      </p:sp>
      <p:sp>
        <p:nvSpPr>
          <p:cNvPr id="3" name="Notes Text"/>
          <p:cNvSpPr/>
          <p:nvPr/>
        </p:nvSpPr>
        <p:spPr>
          <a:xfrm>
            <a:off x="685800" y="4114800"/>
            <a:ext cx="5486400" cy="4572000"/>
          </a:xfrm>
        </p:spPr>
        <p:txBody>
          <a:bodyPr/>
          <a:p>
            <a:r>
              <a:rPr lang="vi-VN" sz="1400" b="1">
                <a:solidFill>
                  <a:srgbClr val="000000"/>
                </a:solidFill>
              </a:rPr>
              <a:t>[SPEAKER NOTES — TV1 (Trịnh Trung Hiếu) | Thời lượng: 75s (02:30 - 03:45)]
</a:t>
            </a:r>
            <a:r>
              <a:rPr lang="vi-VN" sz="1300">
                <a:solidFill>
                  <a:srgbClr val="333333"/>
                </a:solidFill>
              </a:rPr>
              <a:t>Kỹ thuật Mutation Testing là phương pháp kiểm thử hộp trắng hướng lỗi khắt khe nhất hiện nay. Khác với kiểm thử thông thường chỉ đo xem code có chạy qua không, PIT vận hành theo chuỗi chuyển hóa chặt chẽ theo chuẩn IEEE: Từ khiếm khuyết nhân tạo tiêm vào bytecode, ca kiểm thử phải thỏa mãn đồng thời 3 điều kiện RIP: Phải chạm tới dòng mã (Reachability), làm thay đổi giá trị trong bộ nhớ (Infection), và sai lệch đó bắt buộc phải lan truyền ra ngõ ra quan sát được (Propagation). Nếu câu lệnh Assertion của bài test nhạy bén, bài test sẽ Fail và mutant được coi là KILLED. Ngược lại, nếu test chỉ assert hời hợt hoặc nuốt lỗi, bài test vẫn xanh và mutant sẽ SURVIVED. Đây chính là thước đo vàng cho chất lượng bộ kiểm thử.</a:t>
            </a: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nvSpPr>
        <p:spPr>
          <a:xfrm>
            <a:off x="685800" y="685800"/>
            <a:ext cx="5486400" cy="3086100"/>
          </a:xfrm>
        </p:spPr>
      </p:sp>
      <p:sp>
        <p:nvSpPr>
          <p:cNvPr id="3" name="Notes Text"/>
          <p:cNvSpPr/>
          <p:nvPr/>
        </p:nvSpPr>
        <p:spPr>
          <a:xfrm>
            <a:off x="685800" y="4114800"/>
            <a:ext cx="5486400" cy="4572000"/>
          </a:xfrm>
        </p:spPr>
        <p:txBody>
          <a:bodyPr/>
          <a:p>
            <a:r>
              <a:rPr lang="vi-VN" sz="1400" b="1">
                <a:solidFill>
                  <a:srgbClr val="000000"/>
                </a:solidFill>
              </a:rPr>
              <a:t>[SPEAKER NOTES — TV1 (Trịnh Trung Hiếu) | Thời lượng: 75s (03:45 - 05:00)]
</a:t>
            </a:r>
            <a:r>
              <a:rPr lang="vi-VN" sz="1300">
                <a:solidFill>
                  <a:srgbClr val="333333"/>
                </a:solidFill>
              </a:rPr>
              <a:t>Trong quá trình triển khai, nhóm gặp sự cố kỹ thuật lớn: Spring Boot 4 kéo theo JUnit Platform 6.0.3, khiến phiên bản PIT gợi ý trong syllabus bị crash minion ngay khi khởi động. Em đã nghiên cứu tài liệu kỹ thuật của PIT và nâng cấp lên bộ đôi pitest-maven 1.30.0 và pitest-junit5-plugin 1.2.3, đồng thời vô hiệu hóa JaCoCo agent để tránh xung đột bytecode. Nhóm cũng kích hoạt nhóm mutator STRONGER toàn diện nhất và cài đặt trực tiếp Cổng chất lượng Quality Gate vào pom.xml với ngưỡng 88% đột biến và 95% độ bao phủ. Bất kỳ commit nào làm điểm số tụt dưới 88% đều bị hủy bỏ ngay lập tức. Sau đây, xin mời bạn Minh Tài trình bày về chiến lược kiểm thử hộp đen.</a:t>
            </a: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nvSpPr>
        <p:spPr>
          <a:xfrm>
            <a:off x="685800" y="685800"/>
            <a:ext cx="5486400" cy="3086100"/>
          </a:xfrm>
        </p:spPr>
      </p:sp>
      <p:sp>
        <p:nvSpPr>
          <p:cNvPr id="3" name="Notes Text"/>
          <p:cNvSpPr/>
          <p:nvPr/>
        </p:nvSpPr>
        <p:spPr>
          <a:xfrm>
            <a:off x="685800" y="4114800"/>
            <a:ext cx="5486400" cy="4572000"/>
          </a:xfrm>
        </p:spPr>
        <p:txBody>
          <a:bodyPr/>
          <a:p>
            <a:r>
              <a:rPr lang="vi-VN" sz="1400" b="1">
                <a:solidFill>
                  <a:srgbClr val="000000"/>
                </a:solidFill>
              </a:rPr>
              <a:t>[SPEAKER NOTES — TV3 (Trần Minh Tài) | Thời lượng: 90s (05:00 - 06:30)]
</a:t>
            </a:r>
            <a:r>
              <a:rPr lang="vi-VN" sz="1300">
                <a:solidFill>
                  <a:srgbClr val="333333"/>
                </a:solidFill>
              </a:rPr>
              <a:t>Kính thưa Thầy, em chịu trách nhiệm thiết kế 45 ca kiểm thử hộp đen tập trung vào tầng Domain và Validator. Điểm yếu lớn của bộ test ban đầu là chỉ test tên pet 31 ký tự mà không test biên 30 ký tự, khiến PIT đổi dấu lớn hơn thành lớn hơn hoặc bằng mà test cũ vẫn Pass. Em đã áp dụng kỹ thuật Phân tích giá trị biên BVA, viết ca test chấp nhận tên đúng 30 ký tự để diệt gọn mutant này. Đồng thời, em xây dựng các Bảng quyết định toàn diện cho hàm addPet và getPet của Owner để vét cạn mọi tổ hợp cờ isNew và ID trùng nhau. Nhờ vậy, toàn bộ 45 test của em đều đạt tính tất định cao và diệt sạch các mutant trên domain model. Tiếp theo, xin mời bạn Bảo Bảo trình bày về kiểm thử hộp trắng tầng Controller.</a:t>
            </a: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nvSpPr>
        <p:spPr>
          <a:xfrm>
            <a:off x="685800" y="685800"/>
            <a:ext cx="5486400" cy="3086100"/>
          </a:xfrm>
        </p:spPr>
      </p:sp>
      <p:sp>
        <p:nvSpPr>
          <p:cNvPr id="3" name="Notes Text"/>
          <p:cNvSpPr/>
          <p:nvPr/>
        </p:nvSpPr>
        <p:spPr>
          <a:xfrm>
            <a:off x="685800" y="4114800"/>
            <a:ext cx="5486400" cy="4572000"/>
          </a:xfrm>
        </p:spPr>
        <p:txBody>
          <a:bodyPr/>
          <a:p>
            <a:r>
              <a:rPr lang="vi-VN" sz="1400" b="1">
                <a:solidFill>
                  <a:srgbClr val="000000"/>
                </a:solidFill>
              </a:rPr>
              <a:t>[SPEAKER NOTES — TV4 (Trương Bảo Bảo) | Thời lượng: 120s (06:30 - 08:30)]
</a:t>
            </a:r>
            <a:r>
              <a:rPr lang="vi-VN" sz="1300">
                <a:solidFill>
                  <a:srgbClr val="333333"/>
                </a:solidFill>
              </a:rPr>
              <a:t>Tiếp nối phần TV3, em phụ trách kiểm thử hộp trắng cho 3 Controller. Như Thầy thấy trên đồ thị luồng phương thức updatePetDetails, độ phức tạp McCabe là 3 tương ứng 3 đường cơ sở. Tại đỉnh N4 có 3 lệnh sao chép trường dữ liệu. Điểm mù cực lớn của MockMvc là cơ chế Form Binder đã tự động ghi đè dữ liệu lên chính entity trong bộ nhớ, khiến các lệnh copy này thành gán dư thừa. Khi PIT xóa sạch 3 dòng này, test MockMvc cũ vẫn xanh! Để diệt tận gốc tử huyệt này, em đã đưa test về tầng POJO thuần, truyền một đối tượng detached riêng biệt và dùng Mockito ArgumentCaptor để chặn bắt thực thể tại hàm saveAndFlush. Nếu mutant xóa lệnh gán, dữ liệu cũ giữ nguyên và test sẽ đánh trượt ngay lập tức. Sau đây, xin kính mời bạn Việt Linh trình bày phân tích số liệu RCA và chứng minh đột biến tương đương.</a:t>
            </a:r>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nvSpPr>
        <p:spPr>
          <a:xfrm>
            <a:off x="685800" y="685800"/>
            <a:ext cx="5486400" cy="3086100"/>
          </a:xfrm>
        </p:spPr>
      </p:sp>
      <p:sp>
        <p:nvSpPr>
          <p:cNvPr id="3" name="Notes Text"/>
          <p:cNvSpPr/>
          <p:nvPr/>
        </p:nvSpPr>
        <p:spPr>
          <a:xfrm>
            <a:off x="685800" y="4114800"/>
            <a:ext cx="5486400" cy="4572000"/>
          </a:xfrm>
        </p:spPr>
        <p:txBody>
          <a:bodyPr/>
          <a:p>
            <a:r>
              <a:rPr lang="vi-VN" sz="1400" b="1">
                <a:solidFill>
                  <a:srgbClr val="000000"/>
                </a:solidFill>
              </a:rPr>
              <a:t>[SPEAKER NOTES — TV5 (Hoàng Việt Linh) | Thời lượng: 65s (08:30 - 09:35)]
</a:t>
            </a:r>
            <a:r>
              <a:rPr lang="vi-VN" sz="1300">
                <a:solidFill>
                  <a:srgbClr val="333333"/>
                </a:solidFill>
              </a:rPr>
              <a:t>Kính thưa Thầy và Hội đồng, tiếp nối phần trình bày của bạn Bảo Bảo, em xin đại diện nhóm phân tích chuyên sâu về chất lượng kiểm thử. Trên màn hình là Hình G.1 — biểu đồ minh chứng cho phát hiện học thuật quan trọng nhất của đề tài: 'Ảo giác an toàn' của độ bao phủ dòng. Khi tiếp nhận mã nguồn gốc của Spring PetClinic, JaCoCo báo cáo một con số rất ấn tượng: 96.80% Line Coverage, chỉ sót đúng 8 dòng mã. Thế nhưng khi tiêm đột biến bằng PIT, điểm số thực tế chỉ đạt 67.18%, để lọt lưới tới 64 mutants nguy hiểm. Khoảng trống kiểm thử lên tới gần 30%! Điều này chứng minh rằng code được thực thi không đồng nghĩa với code được kiểm tra đúng đắn. Nhờ 81 test case bổ sung được thiết kế bài bản, nhóm đã đưa Line Coverage lên tuyệt đối 100% và Mutation Score đạt 98.46%, xóa bỏ hoàn toàn khoảng trống rủi ro này.</a:t>
            </a:r>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nvSpPr>
        <p:spPr>
          <a:xfrm>
            <a:off x="685800" y="685800"/>
            <a:ext cx="5486400" cy="3086100"/>
          </a:xfrm>
        </p:spPr>
      </p:sp>
      <p:sp>
        <p:nvSpPr>
          <p:cNvPr id="3" name="Notes Text"/>
          <p:cNvSpPr/>
          <p:nvPr/>
        </p:nvSpPr>
        <p:spPr>
          <a:xfrm>
            <a:off x="685800" y="4114800"/>
            <a:ext cx="5486400" cy="4572000"/>
          </a:xfrm>
        </p:spPr>
        <p:txBody>
          <a:bodyPr/>
          <a:p>
            <a:r>
              <a:rPr lang="vi-VN" sz="1400" b="1">
                <a:solidFill>
                  <a:srgbClr val="000000"/>
                </a:solidFill>
              </a:rPr>
              <a:t>[SPEAKER NOTES — TV5 (Hoàng Việt Linh) | Thời lượng: 75s (09:35 - 10:50)]
</a:t>
            </a:r>
            <a:r>
              <a:rPr lang="vi-VN" sz="1300">
                <a:solidFill>
                  <a:srgbClr val="333333"/>
                </a:solidFill>
              </a:rPr>
              <a:t>Để tìm hiểu vì sao 64 mutant ở Baseline sống sót, em đã thực hiện phân tích nguyên nhân gốc rễ RCA theo chuẩn IEEE 1044 và IEEE 610.12. Kết quả bóc tách cho thấy nguyên nhân lớn nhất chiếm hơn 42% là do bài test cũ thiếu Bảng quyết định, dẫn đến bỏ sót các tổ hợp rẽ nhánh lồng nhau. Nguyên nhân thứ hai chiếm gần 22% là do thiếu lệnh verify kiểm tra các hàm void, đặc biệt là cấu hình bảo mật cấm bind trường ID trong Controller. Bên cạnh việc chỉ ra điểm yếu của test suite, kiểm thử đột biến còn hoạt động như một kính hiển vi vạch trần 6 Code Smells trong mã nguồn PetClinic. Điển hình như lệnh gán dead-store tại OwnerController dòng 167 hay biểu thức điều kiện phòng vệ cực đoan tại Owner dòng 108. Tuân thủ nghiêm ngặt ràng buộc đóng băng mã nguồn sản phẩm, nhóm không sửa code mà chuyển hóa các phát hiện này thành ma trận truy vết và khuyến nghị tái cấu trúc.</a:t>
            </a: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nvSpPr>
        <p:spPr>
          <a:xfrm>
            <a:off x="685800" y="685800"/>
            <a:ext cx="5486400" cy="3086100"/>
          </a:xfrm>
        </p:spPr>
      </p:sp>
      <p:sp>
        <p:nvSpPr>
          <p:cNvPr id="3" name="Notes Text"/>
          <p:cNvSpPr/>
          <p:nvPr/>
        </p:nvSpPr>
        <p:spPr>
          <a:xfrm>
            <a:off x="685800" y="4114800"/>
            <a:ext cx="5486400" cy="4572000"/>
          </a:xfrm>
        </p:spPr>
        <p:txBody>
          <a:bodyPr/>
          <a:p>
            <a:r>
              <a:rPr lang="vi-VN" sz="1400" b="1">
                <a:solidFill>
                  <a:srgbClr val="000000"/>
                </a:solidFill>
              </a:rPr>
              <a:t>[SPEAKER NOTES — TV5 (Hoàng Việt Linh) | Thời lượng: 70s (10:50 - 12:00)]
</a:t>
            </a:r>
            <a:r>
              <a:rPr lang="vi-VN" sz="1300">
                <a:solidFill>
                  <a:srgbClr val="333333"/>
                </a:solidFill>
              </a:rPr>
              <a:t>Điểm nhấn học thuật đặc sắc nhất trong phần việc của em là chứng minh hình thức cho 3 mutants sống sót cuối cùng. Đây không phải là điểm yếu của bộ test, mà là 3 Đột biến tương đương về mặt ngữ nghĩa: Tại Owner dòng 108, hai mutant ép các mệnh đề isNew thành true. Em đã mô hình hóa đại số Boolean và lập bảng chân trị trên toàn bộ 5 lớp tương đương của không gian trạng thái. Kết quả chứng minh giá trị logic của mutant luôn đồng nhất tuyệt đối 100% với code gốc, và đã được xác thực tự động bằng script Python duyệt vét cạn. Tương tự tại OwnerController dòng 167, phân tích đồ thị luồng chứng minh khối guard phía trước đã đảm bảo hai ID chắc chắn bằng nhau. Lệnh setId chỉ là một dead-store phòng thủ, việc xóa nó không làm thay đổi bất kỳ hành vi nào của hệ thống. Vì vậy, khi loại trừ 3 mutant tương đương khỏi không gian đột biến khả thi, điểm số hiệu chỉnh thực tế của nhóm đạt tuyệt đối 100%. Sau đây, xin mời bạn Trung Hiếu trình bày về đường ống CI/CD.</a:t>
            </a:r>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nvSpPr>
        <p:spPr>
          <a:xfrm>
            <a:off x="685800" y="685800"/>
            <a:ext cx="5486400" cy="3086100"/>
          </a:xfrm>
        </p:spPr>
      </p:sp>
      <p:sp>
        <p:nvSpPr>
          <p:cNvPr id="3" name="Notes Text"/>
          <p:cNvSpPr/>
          <p:nvPr/>
        </p:nvSpPr>
        <p:spPr>
          <a:xfrm>
            <a:off x="685800" y="4114800"/>
            <a:ext cx="5486400" cy="4572000"/>
          </a:xfrm>
        </p:spPr>
        <p:txBody>
          <a:bodyPr/>
          <a:p>
            <a:r>
              <a:rPr lang="vi-VN" sz="1400" b="1">
                <a:solidFill>
                  <a:srgbClr val="000000"/>
                </a:solidFill>
              </a:rPr>
              <a:t>[SPEAKER NOTES — TV1 (Trịnh Trung Hiếu) | Thời lượng: 75s (12:00 - 13:15)]
</a:t>
            </a:r>
            <a:r>
              <a:rPr lang="vi-VN" sz="1300">
                <a:solidFill>
                  <a:srgbClr val="333333"/>
                </a:solidFill>
              </a:rPr>
              <a:t>Để đảm bảo tính liên tục và kiểm soát chất lượng tự động, nhóm đã thiết lập đường ống CI/CD hoàn chỉnh trên GitHub Actions theo kiến trúc 6 bước Fail-Fast. Hệ thống sẽ ưu tiên chạy 153 unit test trong 15 giây đầu; nếu có lỗi hồi quy, quy trình sẽ ngắt ngay để tiết kiệm tài nguyên. Tiếp theo, bước phân tích đột biến PIT sẽ thực thi và áp dụng Cổng chất lượng 88%. Nhóm cũng tối ưu hóa khả năng tái hiện với duy nhất 1 câu lệnh Maven Wrapper, giúp bất kỳ ai cũng có thể tự mình kiểm chứng kết quả trong vòng 35 đến 45 giây. Sau đây, xin mời bạn Việt Linh tổng kết kết quả và bài học kinh nghiệm của nhóm.</a:t>
            </a:r>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nvSpPr>
        <p:spPr>
          <a:xfrm>
            <a:off x="685800" y="685800"/>
            <a:ext cx="5486400" cy="3086100"/>
          </a:xfrm>
        </p:spPr>
      </p:sp>
      <p:sp>
        <p:nvSpPr>
          <p:cNvPr id="3" name="Notes Text"/>
          <p:cNvSpPr/>
          <p:nvPr/>
        </p:nvSpPr>
        <p:spPr>
          <a:xfrm>
            <a:off x="685800" y="4114800"/>
            <a:ext cx="5486400" cy="4572000"/>
          </a:xfrm>
        </p:spPr>
        <p:txBody>
          <a:bodyPr/>
          <a:p>
            <a:r>
              <a:rPr lang="vi-VN" sz="1400" b="1">
                <a:solidFill>
                  <a:srgbClr val="000000"/>
                </a:solidFill>
              </a:rPr>
              <a:t>[SPEAKER NOTES — TV5 (Hoàng Việt Linh) | Thời lượng: 60s (13:15 - 14:15)]
</a:t>
            </a:r>
            <a:r>
              <a:rPr lang="vi-VN" sz="1300">
                <a:solidFill>
                  <a:srgbClr val="333333"/>
                </a:solidFill>
              </a:rPr>
              <a:t>Nhìn lại toàn bộ hành trình, Bảng tổng kết trên slide đã minh chứng sự bứt phá vượt bậc của dự án: Số lượng test tăng từ 49 lên 130 bài, độ phủ dòng đạt tuyệt đối 100%, và điểm đột biến tăng ngoạn mục từ 67.18% lên 98.46%, loại bỏ hoàn toàn các vùng mã mù kiểm thử. Bốn bài học kinh nghiệm lớn nhất mà nhóm đúc kết được là: Không bao giờ tin tưởng mù quáng vào Code Coverage; luôn cảnh giác trước cạm bẫy che giấu lỗi của MockMvc; bắt buộc phải verify tương tác cho các hàm void bảo mật; và áp dụng bài bản các kỹ thuật hộp trắng kinh điển như BVA và Bảng quyết định. Đây chính là hành trang chuyên môn vô giá cho chúng em trong ngành kiểm thử phần mềm chuyên nghiệp.</a:t>
            </a: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p:nvPr/>
        </p:nvSpPr>
        <p:spPr>
          <a:xfrm>
            <a:off x="685800" y="685800"/>
            <a:ext cx="5486400" cy="3086100"/>
          </a:xfrm>
        </p:spPr>
      </p:sp>
      <p:sp>
        <p:nvSpPr>
          <p:cNvPr id="3" name="Notes Text"/>
          <p:cNvSpPr/>
          <p:nvPr/>
        </p:nvSpPr>
        <p:spPr>
          <a:xfrm>
            <a:off x="685800" y="4114800"/>
            <a:ext cx="5486400" cy="4572000"/>
          </a:xfrm>
        </p:spPr>
        <p:txBody>
          <a:bodyPr/>
          <a:p>
            <a:r>
              <a:rPr lang="vi-VN" sz="1400" b="1">
                <a:solidFill>
                  <a:srgbClr val="000000"/>
                </a:solidFill>
              </a:rPr>
              <a:t>[SPEAKER NOTES — Toàn nhóm (Nhóm 20) | Thời lượng: 45s (14:15 - 15:00)]
</a:t>
            </a:r>
            <a:r>
              <a:rPr lang="vi-VN" sz="1300">
                <a:solidFill>
                  <a:srgbClr val="333333"/>
                </a:solidFill>
              </a:rPr>
              <a:t>Kính thưa Thầy Nguyễn Thế Lâm và quý Thầy Cô trong Hội đồng, phần báo cáo của nhóm 20 về đề tài R01 kết hợp K03 đến đây là hoàn tất. Chúng em xin chân thành cảm ơn sự hướng dẫn tận tâm của Thầy trong suốt học phần Kiểm thử phần mềm. Giờ đây, toàn thể 5 thành viên của nhóm đã sẵn sàng đón nhận những câu hỏi, nhận xét và đóng góp quý báu từ Thầy và Hội đồng. Chúng em xin trân trọng cảm ơn!</a:t>
            </a:r>
          </a:p>
        </p:txBody>
      </p:sp>
    </p:spTree>
  </p:cSld>
</p:note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p:spTree>
      <p:nvGrpSpPr>
        <p:cNvPr id="1" name=""/>
        <p:cNvGrpSpPr/>
        <p:nvPr/>
      </p:nvGrpSpPr>
      <p:grpSpPr/>
    </p:spTree>
  </p:cSld>
</p:sldLayout>
</file>

<file path=ppt/slideMasters/_rels/slideMaster1.xml.rels><?xml version="1.0" encoding="UTF-8" standalone="yes"?>
<Relationships xmlns="http://schemas.openxmlformats.org/package/2006/relationships">
  <Relationship Id="rIdLayout1" Type="http://schemas.openxmlformats.org/officeDocument/2006/relationships/slideLayout" Target="../slideLayouts/slideLayout1.xml"/>
  <Relationship Id="rIdTheme1"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dk1" tx1="lt1" bg2="dk2" tx2="lt2" accent1="accent1" accent2="accent2" accent3="accent3" accent4="accent4" accent5="accent5" accent6="accent6" hlink="hlink" folHlink="folHlink"/>
  <p:sldLayoutIdLst>
    <p:sldLayoutId id="2147483649" r:id="rIdLayout1"/>
  </p:sldLayoutIdLst>
</p:sldMaster>
</file>

<file path=ppt/slides/_rels/slide1.xml.rels><?xml version="1.0" encoding="UTF-8" standalone="yes"?>
<Relationships xmlns="http://schemas.openxmlformats.org/package/2006/relationships">
  <Relationship Id="rIdLayout" Type="http://schemas.openxmlformats.org/officeDocument/2006/relationships/slideLayout" Target="../slideLayouts/slideLayout1.xml"/>
  <Relationship Id="rIdNotes"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Layout" Type="http://schemas.openxmlformats.org/officeDocument/2006/relationships/slideLayout" Target="../slideLayouts/slideLayout1.xml"/>
  <Relationship Id="rIdNotes"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Layout" Type="http://schemas.openxmlformats.org/officeDocument/2006/relationships/slideLayout" Target="../slideLayouts/slideLayout1.xml"/>
  <Relationship Id="rIdNotes"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Layout" Type="http://schemas.openxmlformats.org/officeDocument/2006/relationships/slideLayout" Target="../slideLayouts/slideLayout1.xml"/>
  <Relationship Id="rIdNotes"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Layout" Type="http://schemas.openxmlformats.org/officeDocument/2006/relationships/slideLayout" Target="../slideLayouts/slideLayout1.xml"/>
  <Relationship Id="rIdNotes"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Layout" Type="http://schemas.openxmlformats.org/officeDocument/2006/relationships/slideLayout" Target="../slideLayouts/slideLayout1.xml"/>
  <Relationship Id="rIdNotes"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Layout" Type="http://schemas.openxmlformats.org/officeDocument/2006/relationships/slideLayout" Target="../slideLayouts/slideLayout1.xml"/>
  <Relationship Id="rIdNotes" Type="http://schemas.openxmlformats.org/officeDocument/2006/relationships/notesSlide" Target="../notesSlides/notesSlide7.xml"/>
  <Relationship Id="rIdImg1" Type="http://schemas.openxmlformats.org/officeDocument/2006/relationships/image" Target="../media/image1.png"/>
</Relationships>
</file>

<file path=ppt/slides/_rels/slide8.xml.rels><?xml version="1.0" encoding="UTF-8" standalone="yes"?>
<Relationships xmlns="http://schemas.openxmlformats.org/package/2006/relationships">
  <Relationship Id="rIdLayout" Type="http://schemas.openxmlformats.org/officeDocument/2006/relationships/slideLayout" Target="../slideLayouts/slideLayout1.xml"/>
  <Relationship Id="rIdNotes" Type="http://schemas.openxmlformats.org/officeDocument/2006/relationships/notesSlide" Target="../notesSlides/notesSlide8.xml"/>
  <Relationship Id="rIdImg1" Type="http://schemas.openxmlformats.org/officeDocument/2006/relationships/image" Target="../media/image2.png"/>
</Relationships>
</file>

<file path=ppt/slides/_rels/slide9.xml.rels><?xml version="1.0" encoding="UTF-8" standalone="yes"?>
<Relationships xmlns="http://schemas.openxmlformats.org/package/2006/relationships">
  <Relationship Id="rIdLayout" Type="http://schemas.openxmlformats.org/officeDocument/2006/relationships/slideLayout" Target="../slideLayouts/slideLayout1.xml"/>
  <Relationship Id="rIdNotes"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Layout" Type="http://schemas.openxmlformats.org/officeDocument/2006/relationships/slideLayout" Target="../slideLayouts/slideLayout1.xml"/>
  <Relationship Id="rIdNotes"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Layout" Type="http://schemas.openxmlformats.org/officeDocument/2006/relationships/slideLayout" Target="../slideLayouts/slideLayout1.xml"/>
  <Relationship Id="rIdNotes" Type="http://schemas.openxmlformats.org/officeDocument/2006/relationships/notesSlide" Target="../notesSlides/notesSlide11.xml"/>
  <Relationship Id="rIdImg1" Type="http://schemas.openxmlformats.org/officeDocument/2006/relationships/image" Target="../media/image3.png"/>
</Relationships>
</file>

<file path=ppt/slides/_rels/slide12.xml.rels><?xml version="1.0" encoding="UTF-8" standalone="yes"?>
<Relationships xmlns="http://schemas.openxmlformats.org/package/2006/relationships">
  <Relationship Id="rIdLayout" Type="http://schemas.openxmlformats.org/officeDocument/2006/relationships/slideLayout" Target="../slideLayouts/slideLayout1.xml"/>
  <Relationship Id="rIdNotes"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 Background Dark Rectangle -->
      <p:sp>
        <p:nvSpPr>
          <p:cNvPr id="2" name="Background"/>
          <p:cNvSpPr>
            <a:spLocks noMove="1" noResize="1"/>
          </p:cNvSpPr>
          <p:nvPr/>
        </p:nvSpPr>
        <p:spPr>
          <a:xfrm>
            <a:off x="0" y="0"/>
            <a:ext cx="12192000" cy="6858000"/>
          </a:xfrm>
          <a:prstGeom prst="rect">
            <a:avLst/>
          </a:prstGeom>
          <a:solidFill>
            <a:srgbClr val="0B132B"/>
          </a:solidFill>
        </p:spPr>
      </p:sp>
      <!-- Header Role & Time -->
      <p:sp>
        <p:nvSpPr>
          <p:cNvPr id="3" name="HeaderRole"/>
          <p:cNvSpPr/>
          <p:nvPr/>
        </p:nvSpPr>
        <p:spPr>
          <a:xfrm>
            <a:off x="685800" y="365760"/>
            <a:ext cx="10820400" cy="457200"/>
          </a:xfrm>
        </p:spPr>
        <p:txBody>
          <a:bodyPr vertOverflow="clip"/>
          <a:p>
            <a:r>
              <a:rPr lang="vi-VN" sz="1300" b="1">
                <a:solidFill>
                  <a:srgbClr val="3A86FF"/>
                </a:solidFill>
              </a:rPr>
              <a:t>TV1 (Trịnh Trung Hiếu)  |  60s (00:00 - 01:00)  |  Slide 1/12</a:t>
            </a:r>
          </a:p>
        </p:txBody>
      </p:sp>
      <!-- Title & Subtitle -->
      <p:sp>
        <p:nvSpPr>
          <p:cNvPr id="4" name="TitleBlock"/>
          <p:cNvSpPr/>
          <p:nvPr/>
        </p:nvSpPr>
        <p:spPr>
          <a:xfrm>
            <a:off x="685800" y="822960"/>
            <a:ext cx="10820400" cy="914400"/>
          </a:xfrm>
        </p:spPr>
        <p:txBody>
          <a:bodyPr vertOverflow="clip"/>
          <a:p>
            <a:r>
              <a:rPr lang="vi-VN" sz="2600" b="1">
                <a:solidFill>
                  <a:srgbClr val="FFFFFF"/>
                </a:solidFill>
              </a:rPr>
              <a:t>KIỂM THỬ ĐỘT BIẾN (MUTATION TESTING) BẰNG PIT TRÊN SPRING PETCLINIC</a:t>
            </a:r>
          </a:p>
          <a:p>
            <a:r>
              <a:rPr lang="vi-VN" sz="1400">
                <a:solidFill>
                  <a:srgbClr val="94A3B8"/>
                </a:solidFill>
              </a:rPr>
              <a:t>Học phần: Kiểm thử phần mềm | Mã đề tài: R01 (Spring PetClinic) + K03 (Mutation Testing)</a:t>
            </a:r>
          </a:p>
        </p:txBody>
      </p:sp>
      <!-- Message Banner -->
      <p:sp>
        <p:nvSpPr>
          <p:cNvPr id="5" name="MessageBanner"/>
          <p:cNvSpPr/>
          <p:nvPr/>
        </p:nvSpPr>
        <p:spPr>
          <a:xfrm>
            <a:off x="685800" y="1783080"/>
            <a:ext cx="10820400" cy="457200"/>
          </a:xfrm>
          <a:prstGeom prst="roundRect">
            <a:avLst>
              <a:gd name="adj" fmla="val 20000"/>
            </a:avLst>
          </a:prstGeom>
          <a:solidFill>
            <a:srgbClr val="1C2541"/>
          </a:solidFill>
          <a:ln w="19050">
            <a:solidFill>
              <a:srgbClr val="3A86FF"/>
            </a:solidFill>
          </a:ln>
        </p:spPr>
        <p:txBody>
          <a:bodyPr lIns="182880" tIns="91440" rIns="182880" bIns="91440"/>
          <a:p>
            <a:r>
              <a:rPr lang="vi-VN" sz="1400" b="1">
                <a:solidFill>
                  <a:srgbClr val="93C5FD"/>
                </a:solidFill>
              </a:rPr>
              <a:t>★ THÔNG ĐIỆP CỐT LÕI: Nâng cao năng lực bộ kiểm thử từ 67% lên 98.46% Mutation Score và 100% Line Coverage</a:t>
            </a:r>
          </a:p>
        </p:txBody>
      </p:sp>
      <!-- Left Content Bullet Points -->
      <p:sp>
        <p:nvSpPr>
          <p:cNvPr id="6" name="ContentBullets"/>
          <p:cNvSpPr/>
          <p:nvPr/>
        </p:nvSpPr>
        <p:spPr>
          <a:xfrm>
            <a:off x="685800" y="2377440"/>
            <a:ext cx="10820400" cy="4023360"/>
          </a:xfrm>
        </p:spPr>
        <p:txBody>
          <a:bodyPr vertOverflow="clip"/>
          <a:p>
            <a:pPr marL="285750" indent="-285750">
              <a:buChar char="■"/>
            </a:pPr>
            <a:r>
              <a:rPr lang="vi-VN" sz="1500" dirty="0">
                <a:solidFill>
                  <a:srgbClr val="E2E8F0"/>
                </a:solidFill>
              </a:rPr>
              <a:t>SUT &amp; Đề tài: Hệ thống Spring PetClinic trên nền tảng Java 17, Spring Boot 4.1.0, H2 In-Memory.</a:t>
            </a:r>
          </a:p>
          <a:p>
            <a:pPr marL="285750" indent="-285750">
              <a:buChar char="■"/>
            </a:pPr>
            <a:r>
              <a:rPr lang="vi-VN" sz="1500" dirty="0">
                <a:solidFill>
                  <a:srgbClr val="E2E8F0"/>
                </a:solidFill>
              </a:rPr>
              <a:t>Phạm vi K03: Tập trung toàn diện gói nghiệp vụ cốt lõi org.springframework.samples.petclinic.owner.*.</a:t>
            </a:r>
          </a:p>
          <a:p>
            <a:pPr marL="285750" indent="-285750">
              <a:buChar char="■"/>
            </a:pPr>
            <a:r>
              <a:rPr lang="vi-VN" sz="1500" dirty="0">
                <a:solidFill>
                  <a:srgbClr val="E2E8F0"/>
                </a:solidFill>
              </a:rPr>
              <a:t>Cam kết khoa học: Đóng băng 100% mã nguồn src/main/java, chỉ nâng cấp tối ưu bộ test.</a:t>
            </a:r>
          </a:p>
          <a:p>
            <a:pPr marL="285750" indent="-285750">
              <a:buChar char="■"/>
            </a:pPr>
            <a:r>
              <a:rPr lang="vi-VN" sz="1500" dirty="0">
                <a:solidFill>
                  <a:srgbClr val="E2E8F0"/>
                </a:solidFill>
              </a:rPr>
              <a:t>Cổng chất lượng (Quality Gate): Thiết lập ngưỡng chặn tự động ≥ 88% trong Maven.</a:t>
            </a:r>
          </a:p>
          <a:p>
            <a:pPr marL="285750" indent="-285750">
              <a:buChar char="■"/>
            </a:pPr>
            <a:r>
              <a:rPr lang="vi-VN" sz="1500" dirty="0">
                <a:solidFill>
                  <a:srgbClr val="E2E8F0"/>
                </a:solidFill>
              </a:rPr>
              <a:t>Kết quả xuất sắc: Diệt 192/195 mutants (98.46%), độ bao phủ dòng đạt 250/250 lines (100.00%).</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 Background Dark Rectangle -->
      <p:sp>
        <p:nvSpPr>
          <p:cNvPr id="2" name="Background"/>
          <p:cNvSpPr>
            <a:spLocks noMove="1" noResize="1"/>
          </p:cNvSpPr>
          <p:nvPr/>
        </p:nvSpPr>
        <p:spPr>
          <a:xfrm>
            <a:off x="0" y="0"/>
            <a:ext cx="12192000" cy="6858000"/>
          </a:xfrm>
          <a:prstGeom prst="rect">
            <a:avLst/>
          </a:prstGeom>
          <a:solidFill>
            <a:srgbClr val="0B132B"/>
          </a:solidFill>
        </p:spPr>
      </p:sp>
      <!-- Header Role & Time -->
      <p:sp>
        <p:nvSpPr>
          <p:cNvPr id="3" name="HeaderRole"/>
          <p:cNvSpPr/>
          <p:nvPr/>
        </p:nvSpPr>
        <p:spPr>
          <a:xfrm>
            <a:off x="685800" y="365760"/>
            <a:ext cx="10820400" cy="457200"/>
          </a:xfrm>
        </p:spPr>
        <p:txBody>
          <a:bodyPr vertOverflow="clip"/>
          <a:p>
            <a:r>
              <a:rPr lang="vi-VN" sz="1300" b="1">
                <a:solidFill>
                  <a:srgbClr val="3A86FF"/>
                </a:solidFill>
              </a:rPr>
              <a:t>TV2 (Trần Đình Việt Huy)  |  90s (01:00 - 02:30)  |  Slide 2/12</a:t>
            </a:r>
          </a:p>
        </p:txBody>
      </p:sp>
      <!-- Title & Subtitle -->
      <p:sp>
        <p:nvSpPr>
          <p:cNvPr id="4" name="TitleBlock"/>
          <p:cNvSpPr/>
          <p:nvPr/>
        </p:nvSpPr>
        <p:spPr>
          <a:xfrm>
            <a:off x="685800" y="822960"/>
            <a:ext cx="10820400" cy="914400"/>
          </a:xfrm>
        </p:spPr>
        <p:txBody>
          <a:bodyPr vertOverflow="clip"/>
          <a:p>
            <a:r>
              <a:rPr lang="vi-VN" sz="2600" b="1">
                <a:solidFill>
                  <a:srgbClr val="FFFFFF"/>
                </a:solidFill>
              </a:rPr>
              <a:t>Bài toán nghiệp vụ SUT &amp; Phạm vi đột biến gói owner.*</a:t>
            </a:r>
          </a:p>
          <a:p>
            <a:r>
              <a:rPr lang="vi-VN" sz="1400">
                <a:solidFill>
                  <a:srgbClr val="94A3B8"/>
                </a:solidFill>
              </a:rPr>
              <a:t>Khóa cứng commit khả tái và kiểm chứng 3 luồng nghiệp vụ cốt lõi trên runtime thật</a:t>
            </a:r>
          </a:p>
        </p:txBody>
      </p:sp>
      <!-- Message Banner -->
      <p:sp>
        <p:nvSpPr>
          <p:cNvPr id="5" name="MessageBanner"/>
          <p:cNvSpPr/>
          <p:nvPr/>
        </p:nvSpPr>
        <p:spPr>
          <a:xfrm>
            <a:off x="685800" y="1783080"/>
            <a:ext cx="10820400" cy="457200"/>
          </a:xfrm>
          <a:prstGeom prst="roundRect">
            <a:avLst>
              <a:gd name="adj" fmla="val 20000"/>
            </a:avLst>
          </a:prstGeom>
          <a:solidFill>
            <a:srgbClr val="1C2541"/>
          </a:solidFill>
          <a:ln w="19050">
            <a:solidFill>
              <a:srgbClr val="3A86FF"/>
            </a:solidFill>
          </a:ln>
        </p:spPr>
        <p:txBody>
          <a:bodyPr lIns="182880" tIns="91440" rIns="182880" bIns="91440"/>
          <a:p>
            <a:r>
              <a:rPr lang="vi-VN" sz="1400" b="1">
                <a:solidFill>
                  <a:srgbClr val="93C5FD"/>
                </a:solidFill>
              </a:rPr>
              <a:t>★ THÔNG ĐIỆP CỐT LÕI: Tập trung tối đa tài nguyên vào gói nghiệp vụ phức tạp nhất gồm 8 thực thể &amp; controllers</a:t>
            </a:r>
          </a:p>
        </p:txBody>
      </p:sp>
      <!-- Left Content Bullet Points -->
      <p:sp>
        <p:nvSpPr>
          <p:cNvPr id="6" name="ContentBullets"/>
          <p:cNvSpPr/>
          <p:nvPr/>
        </p:nvSpPr>
        <p:spPr>
          <a:xfrm>
            <a:off x="685800" y="2377440"/>
            <a:ext cx="10820400" cy="4023360"/>
          </a:xfrm>
        </p:spPr>
        <p:txBody>
          <a:bodyPr vertOverflow="clip"/>
          <a:p>
            <a:pPr marL="285750" indent="-285750">
              <a:buChar char="■"/>
            </a:pPr>
            <a:r>
              <a:rPr lang="vi-VN" sz="1500" dirty="0">
                <a:solidFill>
                  <a:srgbClr val="E2E8F0"/>
                </a:solidFill>
              </a:rPr>
              <a:t>SUT chuẩn hóa: Spring PetClinic khóa cứng commit SHA 500158f732419217507c7656904b8e6aa1bcc0d6.</a:t>
            </a:r>
          </a:p>
          <a:p>
            <a:pPr marL="285750" indent="-285750">
              <a:buChar char="■"/>
            </a:pPr>
            <a:r>
              <a:rPr lang="vi-VN" sz="1500" dirty="0">
                <a:solidFill>
                  <a:srgbClr val="E2E8F0"/>
                </a:solidFill>
              </a:rPr>
              <a:t>Ngăn xếp công nghệ: Java 17 LTS, Spring Boot 4.1.0, Spring Data JPA, Thymeleaf, CSDL H2.</a:t>
            </a:r>
          </a:p>
          <a:p>
            <a:pPr marL="285750" indent="-285750">
              <a:buChar char="■"/>
            </a:pPr>
            <a:r>
              <a:rPr lang="vi-VN" sz="1500" dirty="0">
                <a:solidFill>
                  <a:srgbClr val="E2E8F0"/>
                </a:solidFill>
              </a:rPr>
              <a:t>Phạm vi cô lập K03: Gói owner.* gồm 8 lớp nghiệp vụ trọng yếu (Owner, Pet, Visit, các Controllers).</a:t>
            </a:r>
          </a:p>
          <a:p>
            <a:pPr marL="285750" indent="-285750">
              <a:buChar char="■"/>
            </a:pPr>
            <a:r>
              <a:rPr lang="vi-VN" sz="1500" dirty="0">
                <a:solidFill>
                  <a:srgbClr val="E2E8F0"/>
                </a:solidFill>
              </a:rPr>
              <a:t>03 Luồng nghiệp vụ cốt lõi đã xác minh HTTP 200 trên runtime thật:• Luồng 1: Tìm kiếm và phân trang chủ nuôi (OwnerController.processFindForm).• Luồng 2: Thêm mới thú cưng kèm kiểm chuẩn (PetController + PetValidator).• Luồng 3: Đặt lịch khám và lưu hồ sơ bệnh án thú cưng (VisitController).</a:t>
            </a:r>
          </a:p>
          <a:p>
            <a:pPr marL="285750" indent="-285750">
              <a:buChar char="■"/>
            </a:pPr>
            <a:r>
              <a:rPr lang="vi-VN" sz="1500" dirty="0">
                <a:solidFill>
                  <a:srgbClr val="E2E8F0"/>
                </a:solidFill>
              </a:rPr>
              <a:t>Bảo toàn kiến trúc: Toàn bộ 153 unit tests của cả repo luôn PASS (zero regression).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 Background Dark Rectangle -->
      <p:sp>
        <p:nvSpPr>
          <p:cNvPr id="2" name="Background"/>
          <p:cNvSpPr>
            <a:spLocks noMove="1" noResize="1"/>
          </p:cNvSpPr>
          <p:nvPr/>
        </p:nvSpPr>
        <p:spPr>
          <a:xfrm>
            <a:off x="0" y="0"/>
            <a:ext cx="12192000" cy="6858000"/>
          </a:xfrm>
          <a:prstGeom prst="rect">
            <a:avLst/>
          </a:prstGeom>
          <a:solidFill>
            <a:srgbClr val="0B132B"/>
          </a:solidFill>
        </p:spPr>
      </p:sp>
      <!-- Header Role & Time -->
      <p:sp>
        <p:nvSpPr>
          <p:cNvPr id="3" name="HeaderRole"/>
          <p:cNvSpPr/>
          <p:nvPr/>
        </p:nvSpPr>
        <p:spPr>
          <a:xfrm>
            <a:off x="685800" y="365760"/>
            <a:ext cx="10820400" cy="457200"/>
          </a:xfrm>
        </p:spPr>
        <p:txBody>
          <a:bodyPr vertOverflow="clip"/>
          <a:p>
            <a:r>
              <a:rPr lang="vi-VN" sz="1300" b="1">
                <a:solidFill>
                  <a:srgbClr val="3A86FF"/>
                </a:solidFill>
              </a:rPr>
              <a:t>TV1 (Trịnh Trung Hiếu)  |  75s (02:30 - 03:45)  |  Slide 3/12</a:t>
            </a:r>
          </a:p>
        </p:txBody>
      </p:sp>
      <!-- Title & Subtitle -->
      <p:sp>
        <p:nvSpPr>
          <p:cNvPr id="4" name="TitleBlock"/>
          <p:cNvSpPr/>
          <p:nvPr/>
        </p:nvSpPr>
        <p:spPr>
          <a:xfrm>
            <a:off x="685800" y="822960"/>
            <a:ext cx="10820400" cy="914400"/>
          </a:xfrm>
        </p:spPr>
        <p:txBody>
          <a:bodyPr vertOverflow="clip"/>
          <a:p>
            <a:r>
              <a:rPr lang="vi-VN" sz="2600" b="1">
                <a:solidFill>
                  <a:srgbClr val="FFFFFF"/>
                </a:solidFill>
              </a:rPr>
              <a:t>Mô hình lý thuyết IEEE Error – Fault – Failure và Chuỗi RIP</a:t>
            </a:r>
          </a:p>
          <a:p>
            <a:r>
              <a:rPr lang="vi-VN" sz="1400">
                <a:solidFill>
                  <a:srgbClr val="94A3B8"/>
                </a:solidFill>
              </a:rPr>
              <a:t>Đo lường năng lực phát hiện khiếm khuyết (Fault Detection Power) trong Bytecode JVM</a:t>
            </a:r>
          </a:p>
        </p:txBody>
      </p:sp>
      <!-- Message Banner -->
      <p:sp>
        <p:nvSpPr>
          <p:cNvPr id="5" name="MessageBanner"/>
          <p:cNvSpPr/>
          <p:nvPr/>
        </p:nvSpPr>
        <p:spPr>
          <a:xfrm>
            <a:off x="685800" y="1783080"/>
            <a:ext cx="10820400" cy="457200"/>
          </a:xfrm>
          <a:prstGeom prst="roundRect">
            <a:avLst>
              <a:gd name="adj" fmla="val 20000"/>
            </a:avLst>
          </a:prstGeom>
          <a:solidFill>
            <a:srgbClr val="1C2541"/>
          </a:solidFill>
          <a:ln w="19050">
            <a:solidFill>
              <a:srgbClr val="3A86FF"/>
            </a:solidFill>
          </a:ln>
        </p:spPr>
        <p:txBody>
          <a:bodyPr lIns="182880" tIns="91440" rIns="182880" bIns="91440"/>
          <a:p>
            <a:r>
              <a:rPr lang="vi-VN" sz="1400" b="1">
                <a:solidFill>
                  <a:srgbClr val="93C5FD"/>
                </a:solidFill>
              </a:rPr>
              <a:t>★ THÔNG ĐIỆP CỐT LÕI: Chạy qua dòng mã (Line Coverage) không đủ để bắt lỗi — Phải thỏa mãn chuỗi RIP!</a:t>
            </a:r>
          </a:p>
        </p:txBody>
      </p:sp>
      <!-- Left Content Bullet Points -->
      <p:sp>
        <p:nvSpPr>
          <p:cNvPr id="6" name="ContentBullets"/>
          <p:cNvSpPr/>
          <p:nvPr/>
        </p:nvSpPr>
        <p:spPr>
          <a:xfrm>
            <a:off x="685800" y="2377440"/>
            <a:ext cx="10820400" cy="4023360"/>
          </a:xfrm>
        </p:spPr>
        <p:txBody>
          <a:bodyPr vertOverflow="clip"/>
          <a:p>
            <a:pPr marL="285750" indent="-285750">
              <a:buChar char="■"/>
            </a:pPr>
            <a:r>
              <a:rPr lang="vi-VN" sz="1500" dirty="0">
                <a:solidFill>
                  <a:srgbClr val="E2E8F0"/>
                </a:solidFill>
              </a:rPr>
              <a:t>Cơ sở lý thuyết: Giả thuyết lập trình viên có năng lực (CPH) và Hiệu ứng khớp lệnh (Coupling Effect).</a:t>
            </a:r>
          </a:p>
          <a:p>
            <a:pPr marL="285750" indent="-285750">
              <a:buChar char="■"/>
            </a:pPr>
            <a:r>
              <a:rPr lang="vi-VN" sz="1500" dirty="0">
                <a:solidFill>
                  <a:srgbClr val="E2E8F0"/>
                </a:solidFill>
              </a:rPr>
              <a:t>Toán tử đột biến (Mutant): PIT tiêm lỗi cú pháp giả lập trực tiếp vào Bytecode .class.</a:t>
            </a:r>
          </a:p>
          <a:p>
            <a:pPr marL="285750" indent="-285750">
              <a:buChar char="■"/>
            </a:pPr>
            <a:r>
              <a:rPr lang="vi-VN" sz="1500" dirty="0">
                <a:solidFill>
                  <a:srgbClr val="E2E8F0"/>
                </a:solidFill>
              </a:rPr>
              <a:t>Chuỗi điều kiện chuyển hóa RIP bắt buộc:• Reachability (R): Test case thực thi chạy qua dòng mã chứa mutant (tránh NO_COVERAGE).• Infection (I): Lệnh đột biến làm biến đổi trạng thái nội bộ bộ nhớ JVM (sinh Error).• Propagation (P): Trạng thái sai lệch lan truyền ra ngõ ra/kết quả quan sát được (Failure).</a:t>
            </a:r>
          </a:p>
          <a:p>
            <a:pPr marL="285750" indent="-285750">
              <a:buChar char="■"/>
            </a:pPr>
            <a:r>
              <a:rPr lang="vi-VN" sz="1500" dirty="0">
                <a:solidFill>
                  <a:srgbClr val="E2E8F0"/>
                </a:solidFill>
              </a:rPr>
              <a:t>Tiêu diệt Mutant (Killed): Test Assertion bắt được Failure và báo đỏ FAIL/ERROR.</a:t>
            </a:r>
          </a:p>
          <a:p>
            <a:pPr marL="285750" indent="-285750">
              <a:buChar char="■"/>
            </a:pPr>
            <a:r>
              <a:rPr lang="vi-VN" sz="1500" dirty="0">
                <a:solidFill>
                  <a:srgbClr val="E2E8F0"/>
                </a:solidFill>
              </a:rPr>
              <a:t>Mutant sống sót (Survived): Test case yếu hoặc thiếu assert, test vẫn PASS (lọt lưới).</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 Background Dark Rectangle -->
      <p:sp>
        <p:nvSpPr>
          <p:cNvPr id="2" name="Background"/>
          <p:cNvSpPr>
            <a:spLocks noMove="1" noResize="1"/>
          </p:cNvSpPr>
          <p:nvPr/>
        </p:nvSpPr>
        <p:spPr>
          <a:xfrm>
            <a:off x="0" y="0"/>
            <a:ext cx="12192000" cy="6858000"/>
          </a:xfrm>
          <a:prstGeom prst="rect">
            <a:avLst/>
          </a:prstGeom>
          <a:solidFill>
            <a:srgbClr val="0B132B"/>
          </a:solidFill>
        </p:spPr>
      </p:sp>
      <!-- Header Role & Time -->
      <p:sp>
        <p:nvSpPr>
          <p:cNvPr id="3" name="HeaderRole"/>
          <p:cNvSpPr/>
          <p:nvPr/>
        </p:nvSpPr>
        <p:spPr>
          <a:xfrm>
            <a:off x="685800" y="365760"/>
            <a:ext cx="10820400" cy="457200"/>
          </a:xfrm>
        </p:spPr>
        <p:txBody>
          <a:bodyPr vertOverflow="clip"/>
          <a:p>
            <a:r>
              <a:rPr lang="vi-VN" sz="1300" b="1">
                <a:solidFill>
                  <a:srgbClr val="3A86FF"/>
                </a:solidFill>
              </a:rPr>
              <a:t>TV1 (Trịnh Trung Hiếu)  |  75s (03:45 - 05:00)  |  Slide 4/12</a:t>
            </a:r>
          </a:p>
        </p:txBody>
      </p:sp>
      <!-- Title & Subtitle -->
      <p:sp>
        <p:nvSpPr>
          <p:cNvPr id="4" name="TitleBlock"/>
          <p:cNvSpPr/>
          <p:nvPr/>
        </p:nvSpPr>
        <p:spPr>
          <a:xfrm>
            <a:off x="685800" y="822960"/>
            <a:ext cx="10820400" cy="914400"/>
          </a:xfrm>
        </p:spPr>
        <p:txBody>
          <a:bodyPr vertOverflow="clip"/>
          <a:p>
            <a:r>
              <a:rPr lang="vi-VN" sz="2600" b="1">
                <a:solidFill>
                  <a:srgbClr val="FFFFFF"/>
                </a:solidFill>
              </a:rPr>
              <a:t>Xử lý xung đột JUnit 6 / PIT 1.30.0 &amp; Cổng chất lượng Quality Gate</a:t>
            </a:r>
          </a:p>
          <a:p>
            <a:r>
              <a:rPr lang="vi-VN" sz="1400">
                <a:solidFill>
                  <a:srgbClr val="94A3B8"/>
                </a:solidFill>
              </a:rPr>
              <a:t>Giải quyết dứt điểm crash Minion và thiết lập rào cản chất lượng tự động ≥ 88%</a:t>
            </a:r>
          </a:p>
        </p:txBody>
      </p:sp>
      <!-- Message Banner -->
      <p:sp>
        <p:nvSpPr>
          <p:cNvPr id="5" name="MessageBanner"/>
          <p:cNvSpPr/>
          <p:nvPr/>
        </p:nvSpPr>
        <p:spPr>
          <a:xfrm>
            <a:off x="685800" y="1783080"/>
            <a:ext cx="10820400" cy="457200"/>
          </a:xfrm>
          <a:prstGeom prst="roundRect">
            <a:avLst>
              <a:gd name="adj" fmla="val 20000"/>
            </a:avLst>
          </a:prstGeom>
          <a:solidFill>
            <a:srgbClr val="1C2541"/>
          </a:solidFill>
          <a:ln w="19050">
            <a:solidFill>
              <a:srgbClr val="3A86FF"/>
            </a:solidFill>
          </a:ln>
        </p:spPr>
        <p:txBody>
          <a:bodyPr lIns="182880" tIns="91440" rIns="182880" bIns="91440"/>
          <a:p>
            <a:r>
              <a:rPr lang="vi-VN" sz="1400" b="1">
                <a:solidFill>
                  <a:srgbClr val="93C5FD"/>
                </a:solidFill>
              </a:rPr>
              <a:t>★ THÔNG ĐIỆP CỐT LÕI: Nâng cấp bộ đôi pitest-maven 1.30.0 + junit5-plugin 1.2.3 và chặn đứng JaCoCo agent</a:t>
            </a:r>
          </a:p>
        </p:txBody>
      </p:sp>
      <!-- Left Content Bullet Points -->
      <p:sp>
        <p:nvSpPr>
          <p:cNvPr id="6" name="ContentBullets"/>
          <p:cNvSpPr/>
          <p:nvPr/>
        </p:nvSpPr>
        <p:spPr>
          <a:xfrm>
            <a:off x="685800" y="2377440"/>
            <a:ext cx="10820400" cy="4023360"/>
          </a:xfrm>
        </p:spPr>
        <p:txBody>
          <a:bodyPr vertOverflow="clip"/>
          <a:p>
            <a:pPr marL="285750" indent="-285750">
              <a:buChar char="■"/>
            </a:pPr>
            <a:r>
              <a:rPr lang="vi-VN" sz="1500" dirty="0">
                <a:solidFill>
                  <a:srgbClr val="E2E8F0"/>
                </a:solidFill>
              </a:rPr>
              <a:t>Sự cố JUnit 6: Spring Boot 4.1.0 kéo theo JUnit Platform 6.0.3 làm sập minion PIT 1.2.1 (UNKNOWN_ERROR).</a:t>
            </a:r>
          </a:p>
          <a:p>
            <a:pPr marL="285750" indent="-285750">
              <a:buChar char="■"/>
            </a:pPr>
            <a:r>
              <a:rPr lang="vi-VN" sz="1500" dirty="0">
                <a:solidFill>
                  <a:srgbClr val="E2E8F0"/>
                </a:solidFill>
              </a:rPr>
              <a:t>Nâng cấp đồng bộ: Chuyển dịch lên pitest-maven:1.30.0 + pitest-junit5-plugin:1.2.3 ổn định tuyệt đối.</a:t>
            </a:r>
          </a:p>
          <a:p>
            <a:pPr marL="285750" indent="-285750">
              <a:buChar char="■"/>
            </a:pPr>
            <a:r>
              <a:rPr lang="vi-VN" sz="1500" dirty="0">
                <a:solidFill>
                  <a:srgbClr val="E2E8F0"/>
                </a:solidFill>
              </a:rPr>
              <a:t>Khử xung đột Bytecode: Thêm cờ -Djacoco.skip=true ngăn JaCoCo Java Agent can thiệp méo mó bytecode.</a:t>
            </a:r>
          </a:p>
          <a:p>
            <a:pPr marL="285750" indent="-285750">
              <a:buChar char="■"/>
            </a:pPr>
            <a:r>
              <a:rPr lang="vi-VN" sz="1500" dirty="0">
                <a:solidFill>
                  <a:srgbClr val="E2E8F0"/>
                </a:solidFill>
              </a:rPr>
              <a:t>Tập toán tử khắt khe STRONGER: Kích hoạt 11 mutators nâng cao (Boundary, VoidCall, Math, NegateConditionals...).</a:t>
            </a:r>
          </a:p>
          <a:p>
            <a:pPr marL="285750" indent="-285750">
              <a:buChar char="■"/>
            </a:pPr>
            <a:r>
              <a:rPr lang="vi-VN" sz="1500" dirty="0">
                <a:solidFill>
                  <a:srgbClr val="E2E8F0"/>
                </a:solidFill>
              </a:rPr>
              <a:t>Cổng chất lượng tự động (Quality Gate) khóa trong pom.xml:• &amp;lt;mutationThreshold&amp;gt;88&amp;lt;/mutationThreshold&amp;gt; (Ngưỡng đạt đề tài: ≥ 88%).• &amp;lt;coverageThreshold&amp;gt;95&amp;lt;/coverageThreshold&amp;gt; (Bảo đảm bao phủ dòng ≥ 95%).• Tự động đánh trượt tiến trình build (BUILD FAILURE) nếu vi phạm bất kỳ ngưỡng nào.</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 Background Dark Rectangle -->
      <p:sp>
        <p:nvSpPr>
          <p:cNvPr id="2" name="Background"/>
          <p:cNvSpPr>
            <a:spLocks noMove="1" noResize="1"/>
          </p:cNvSpPr>
          <p:nvPr/>
        </p:nvSpPr>
        <p:spPr>
          <a:xfrm>
            <a:off x="0" y="0"/>
            <a:ext cx="12192000" cy="6858000"/>
          </a:xfrm>
          <a:prstGeom prst="rect">
            <a:avLst/>
          </a:prstGeom>
          <a:solidFill>
            <a:srgbClr val="0B132B"/>
          </a:solidFill>
        </p:spPr>
      </p:sp>
      <!-- Header Role & Time -->
      <p:sp>
        <p:nvSpPr>
          <p:cNvPr id="3" name="HeaderRole"/>
          <p:cNvSpPr/>
          <p:nvPr/>
        </p:nvSpPr>
        <p:spPr>
          <a:xfrm>
            <a:off x="685800" y="365760"/>
            <a:ext cx="10820400" cy="457200"/>
          </a:xfrm>
        </p:spPr>
        <p:txBody>
          <a:bodyPr vertOverflow="clip"/>
          <a:p>
            <a:r>
              <a:rPr lang="vi-VN" sz="1300" b="1">
                <a:solidFill>
                  <a:srgbClr val="3A86FF"/>
                </a:solidFill>
              </a:rPr>
              <a:t>TV3 (Trần Minh Tài)  |  90s (05:00 - 06:30)  |  Slide 5/12</a:t>
            </a:r>
          </a:p>
        </p:txBody>
      </p:sp>
      <!-- Title & Subtitle -->
      <p:sp>
        <p:nvSpPr>
          <p:cNvPr id="4" name="TitleBlock"/>
          <p:cNvSpPr/>
          <p:nvPr/>
        </p:nvSpPr>
        <p:spPr>
          <a:xfrm>
            <a:off x="685800" y="822960"/>
            <a:ext cx="10820400" cy="914400"/>
          </a:xfrm>
        </p:spPr>
        <p:txBody>
          <a:bodyPr vertOverflow="clip"/>
          <a:p>
            <a:r>
              <a:rPr lang="vi-VN" sz="2600" b="1">
                <a:solidFill>
                  <a:srgbClr val="FFFFFF"/>
                </a:solidFill>
              </a:rPr>
              <a:t>Thiết kế kiểm thử Hộp đen: BVA &amp; Bảng quyết định (45 tests)</a:t>
            </a:r>
          </a:p>
          <a:p>
            <a:r>
              <a:rPr lang="vi-VN" sz="1400">
                <a:solidFill>
                  <a:srgbClr val="94A3B8"/>
                </a:solidFill>
              </a:rPr>
              <a:t>Vét cạn giá trị biên và tổ hợp điều kiện logic trên Domain Model và Validator</a:t>
            </a:r>
          </a:p>
        </p:txBody>
      </p:sp>
      <!-- Message Banner -->
      <p:sp>
        <p:nvSpPr>
          <p:cNvPr id="5" name="MessageBanner"/>
          <p:cNvSpPr/>
          <p:nvPr/>
        </p:nvSpPr>
        <p:spPr>
          <a:xfrm>
            <a:off x="685800" y="1783080"/>
            <a:ext cx="10820400" cy="457200"/>
          </a:xfrm>
          <a:prstGeom prst="roundRect">
            <a:avLst>
              <a:gd name="adj" fmla="val 20000"/>
            </a:avLst>
          </a:prstGeom>
          <a:solidFill>
            <a:srgbClr val="1C2541"/>
          </a:solidFill>
          <a:ln w="19050">
            <a:solidFill>
              <a:srgbClr val="3A86FF"/>
            </a:solidFill>
          </a:ln>
        </p:spPr>
        <p:txBody>
          <a:bodyPr lIns="182880" tIns="91440" rIns="182880" bIns="91440"/>
          <a:p>
            <a:r>
              <a:rPr lang="vi-VN" sz="1400" b="1">
                <a:solidFill>
                  <a:srgbClr val="93C5FD"/>
                </a:solidFill>
              </a:rPr>
              <a:t>★ THÔNG ĐIỆP CỐT LÕI: Áp dụng kỹ thuật BVA 2-point và Decision Table 8 quy tắc diệt sạch 100% mutants domain</a:t>
            </a:r>
          </a:p>
        </p:txBody>
      </p:sp>
      <!-- Left Content Bullet Points -->
      <p:sp>
        <p:nvSpPr>
          <p:cNvPr id="6" name="ContentBullets"/>
          <p:cNvSpPr/>
          <p:nvPr/>
        </p:nvSpPr>
        <p:spPr>
          <a:xfrm>
            <a:off x="685800" y="2377440"/>
            <a:ext cx="10820400" cy="4023360"/>
          </a:xfrm>
        </p:spPr>
        <p:txBody>
          <a:bodyPr vertOverflow="clip"/>
          <a:p>
            <a:pPr marL="285750" indent="-285750">
              <a:buChar char="■"/>
            </a:pPr>
            <a:r>
              <a:rPr lang="vi-VN" sz="1500" dirty="0">
                <a:solidFill>
                  <a:srgbClr val="E2E8F0"/>
                </a:solidFill>
              </a:rPr>
              <a:t>Phân công TV3: 45 ca kiểm thử độc lập, tất định trên Owner, Pet, Visit, PetValidator.</a:t>
            </a:r>
          </a:p>
          <a:p>
            <a:pPr marL="285750" indent="-285750">
              <a:buChar char="■"/>
            </a:pPr>
            <a:r>
              <a:rPr lang="vi-VN" sz="1500" dirty="0">
                <a:solidFill>
                  <a:srgbClr val="E2E8F0"/>
                </a:solidFill>
              </a:rPr>
              <a:t>Phân tích giá trị biên BVA (2-point boundary):• Kiểm chuẩn độ dài tên pet tại ngưỡng biên 30 và 31 ký tự (MAX_NAME_LENGTH = 30).• Tiêu diệt triệt để ConditionalsBoundaryMutator tại PetValidator:58 (đổi &amp;gt; thành ≥).</a:t>
            </a:r>
          </a:p>
          <a:p>
            <a:pPr marL="285750" indent="-285750">
              <a:buChar char="■"/>
            </a:pPr>
            <a:r>
              <a:rPr lang="vi-VN" sz="1500" dirty="0">
                <a:solidFill>
                  <a:srgbClr val="E2E8F0"/>
                </a:solidFill>
              </a:rPr>
              <a:t>Bảng quyết định (Decision Table 8 rules):• 8 tổ hợp điều kiện: hasText &amp;amp;&amp;amp; isNew &amp;amp;&amp;amp; getPet() != null trong PetController.• Bảng quyết định 2 chiều cho Owner.addPet: kiểm tra thực thể mới vs đã lưu và trùng ID.</a:t>
            </a:r>
          </a:p>
          <a:p>
            <a:pPr marL="285750" indent="-285750">
              <a:buChar char="■"/>
            </a:pPr>
            <a:r>
              <a:rPr lang="vi-VN" sz="1500" dirty="0">
                <a:solidFill>
                  <a:srgbClr val="E2E8F0"/>
                </a:solidFill>
              </a:rPr>
              <a:t>Assert nội dung sâu (Deep Assertion): So khớp chuỗi toString(), xác minh print(null) trả về "&amp;lt;null&amp;gt;".</a:t>
            </a:r>
          </a:p>
          <a:p>
            <a:pPr marL="285750" indent="-285750">
              <a:buChar char="■"/>
            </a:pPr>
            <a:r>
              <a:rPr lang="vi-VN" sz="1500" dirty="0">
                <a:solidFill>
                  <a:srgbClr val="E2E8F0"/>
                </a:solidFill>
              </a:rPr>
              <a:t>Kết quả: Diệt sạch 100% mutants trên các lớp Domain Model và Validator.</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 Background Dark Rectangle -->
      <p:sp>
        <p:nvSpPr>
          <p:cNvPr id="2" name="Background"/>
          <p:cNvSpPr>
            <a:spLocks noMove="1" noResize="1"/>
          </p:cNvSpPr>
          <p:nvPr/>
        </p:nvSpPr>
        <p:spPr>
          <a:xfrm>
            <a:off x="0" y="0"/>
            <a:ext cx="12192000" cy="6858000"/>
          </a:xfrm>
          <a:prstGeom prst="rect">
            <a:avLst/>
          </a:prstGeom>
          <a:solidFill>
            <a:srgbClr val="0B132B"/>
          </a:solidFill>
        </p:spPr>
      </p:sp>
      <!-- Header Role & Time -->
      <p:sp>
        <p:nvSpPr>
          <p:cNvPr id="3" name="HeaderRole"/>
          <p:cNvSpPr/>
          <p:nvPr/>
        </p:nvSpPr>
        <p:spPr>
          <a:xfrm>
            <a:off x="685800" y="365760"/>
            <a:ext cx="10820400" cy="457200"/>
          </a:xfrm>
        </p:spPr>
        <p:txBody>
          <a:bodyPr vertOverflow="clip"/>
          <a:p>
            <a:r>
              <a:rPr lang="vi-VN" sz="1300" b="1">
                <a:solidFill>
                  <a:srgbClr val="3A86FF"/>
                </a:solidFill>
              </a:rPr>
              <a:t>TV4 (Trương Bảo Bảo)  |  120s (06:30 - 08:30)  |  Slide 6/12</a:t>
            </a:r>
          </a:p>
        </p:txBody>
      </p:sp>
      <!-- Title & Subtitle -->
      <p:sp>
        <p:nvSpPr>
          <p:cNvPr id="4" name="TitleBlock"/>
          <p:cNvSpPr/>
          <p:nvPr/>
        </p:nvSpPr>
        <p:spPr>
          <a:xfrm>
            <a:off x="685800" y="822960"/>
            <a:ext cx="10820400" cy="914400"/>
          </a:xfrm>
        </p:spPr>
        <p:txBody>
          <a:bodyPr vertOverflow="clip"/>
          <a:p>
            <a:r>
              <a:rPr lang="vi-VN" sz="2600" b="1">
                <a:solidFill>
                  <a:srgbClr val="FFFFFF"/>
                </a:solidFill>
              </a:rPr>
              <a:t>Đồ thị luồng điều khiển, McCabe V(G)=3 &amp; Detached Entity (36 tests)</a:t>
            </a:r>
          </a:p>
          <a:p>
            <a:r>
              <a:rPr lang="vi-VN" sz="1400">
                <a:solidFill>
                  <a:srgbClr val="94A3B8"/>
                </a:solidFill>
              </a:rPr>
              <a:t>Hóa giải điểm mù Model Aliasing của Spring MockMvc bằng POJO Unit Test và ArgumentCaptor</a:t>
            </a:r>
          </a:p>
        </p:txBody>
      </p:sp>
      <!-- Message Banner -->
      <p:sp>
        <p:nvSpPr>
          <p:cNvPr id="5" name="MessageBanner"/>
          <p:cNvSpPr/>
          <p:nvPr/>
        </p:nvSpPr>
        <p:spPr>
          <a:xfrm>
            <a:off x="685800" y="1783080"/>
            <a:ext cx="10820400" cy="457200"/>
          </a:xfrm>
          <a:prstGeom prst="roundRect">
            <a:avLst>
              <a:gd name="adj" fmla="val 20000"/>
            </a:avLst>
          </a:prstGeom>
          <a:solidFill>
            <a:srgbClr val="1C2541"/>
          </a:solidFill>
          <a:ln w="19050">
            <a:solidFill>
              <a:srgbClr val="3A86FF"/>
            </a:solidFill>
          </a:ln>
        </p:spPr>
        <p:txBody>
          <a:bodyPr lIns="182880" tIns="91440" rIns="182880" bIns="91440"/>
          <a:p>
            <a:r>
              <a:rPr lang="vi-VN" sz="1400" b="1">
                <a:solidFill>
                  <a:srgbClr val="93C5FD"/>
                </a:solidFill>
              </a:rPr>
              <a:t>★ THÔNG ĐIỆP CỐT LÕI: Phát hiện lỗ hổng Form Binder ghi đè thực thể trong bộ nhớ và giải quyết triệt để</a:t>
            </a:r>
          </a:p>
        </p:txBody>
      </p:sp>
      <!-- Left Content Bullet Points -->
      <p:sp>
        <p:nvSpPr>
          <p:cNvPr id="6" name="ContentBullets"/>
          <p:cNvSpPr/>
          <p:nvPr/>
        </p:nvSpPr>
        <p:spPr>
          <a:xfrm>
            <a:off x="685800" y="2377440"/>
            <a:ext cx="10820400" cy="4023360"/>
          </a:xfrm>
        </p:spPr>
        <p:txBody>
          <a:bodyPr vertOverflow="clip"/>
          <a:p>
            <a:pPr marL="285750" indent="-285750">
              <a:buChar char="■"/>
            </a:pPr>
            <a:r>
              <a:rPr lang="vi-VN" sz="1500" dirty="0">
                <a:solidFill>
                  <a:srgbClr val="E2E8F0"/>
                </a:solidFill>
              </a:rPr>
              <a:t>Phân công TV4: 36 test methods trên OwnerController, PetController, VisitController.</a:t>
            </a:r>
          </a:p>
          <a:p>
            <a:pPr marL="285750" indent="-285750">
              <a:buChar char="■"/>
            </a:pPr>
            <a:r>
              <a:rPr lang="vi-VN" sz="1500" dirty="0">
                <a:solidFill>
                  <a:srgbClr val="E2E8F0"/>
                </a:solidFill>
              </a:rPr>
              <a:t>Giải phẫu Đồ thị luồng phương thức updatePetDetails:• Cấu trúc: 7 đỉnh, 8 cạnh, 2 điểm quyết định rẽ nhánh ⇒ Độ phức tạp Cyclomatic V(G) = 3.• 3 đường cơ sở McCabe: BP23 (fail-fast ID null), BP24 (update fields đỉnh N4), BP25 (add mới).</a:t>
            </a:r>
          </a:p>
          <a:p>
            <a:pPr marL="285750" indent="-285750">
              <a:buChar char="■"/>
            </a:pPr>
            <a:r>
              <a:rPr lang="vi-VN" sz="1500" dirty="0">
                <a:solidFill>
                  <a:srgbClr val="E2E8F0"/>
                </a:solidFill>
              </a:rPr>
              <a:t>Tử huyệt đỉnh N4 &amp; Điểm mù Spring MockMvc:• Form DataBinder tự động gán dữ liệu trước khi chạy, biến 3 lệnh copy setName, setBirthDate, setType thành gán dư thừa (x = x). Test cũ vẫn xanh khi PIT xóa 3 dòng này!</a:t>
            </a:r>
          </a:p>
          <a:p>
            <a:pPr marL="285750" indent="-285750">
              <a:buChar char="■"/>
            </a:pPr>
            <a:r>
              <a:rPr lang="vi-VN" sz="1500" dirty="0">
                <a:solidFill>
                  <a:srgbClr val="E2E8F0"/>
                </a:solidFill>
              </a:rPr>
              <a:t>Giải pháp đột phá Detached Entity:• Tạo POJO unit test, truyền thực thể tách rời (detached mang tên "Betty" vs managed mang tên "petty").• Dùng Mockito ArgumentCaptor&amp;lt;Owner&amp;gt; bắt thực thể tại saveAndFlush để assert từng trường ⇒ Diệt 100% mutants!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 Background Dark Rectangle -->
      <p:sp>
        <p:nvSpPr>
          <p:cNvPr id="2" name="Background"/>
          <p:cNvSpPr>
            <a:spLocks noMove="1" noResize="1"/>
          </p:cNvSpPr>
          <p:nvPr/>
        </p:nvSpPr>
        <p:spPr>
          <a:xfrm>
            <a:off x="0" y="0"/>
            <a:ext cx="12192000" cy="6858000"/>
          </a:xfrm>
          <a:prstGeom prst="rect">
            <a:avLst/>
          </a:prstGeom>
          <a:solidFill>
            <a:srgbClr val="0B132B"/>
          </a:solidFill>
        </p:spPr>
      </p:sp>
      <!-- Header Role & Time -->
      <p:sp>
        <p:nvSpPr>
          <p:cNvPr id="3" name="HeaderRole"/>
          <p:cNvSpPr/>
          <p:nvPr/>
        </p:nvSpPr>
        <p:spPr>
          <a:xfrm>
            <a:off x="685800" y="365760"/>
            <a:ext cx="10820400" cy="457200"/>
          </a:xfrm>
        </p:spPr>
        <p:txBody>
          <a:bodyPr vertOverflow="clip"/>
          <a:p>
            <a:r>
              <a:rPr lang="vi-VN" sz="1300" b="1">
                <a:solidFill>
                  <a:srgbClr val="3A86FF"/>
                </a:solidFill>
              </a:rPr>
              <a:t>TV5 (Hoàng Việt Linh)  |  65s (08:30 - 09:35)  |  Slide 7/12</a:t>
            </a:r>
          </a:p>
        </p:txBody>
      </p:sp>
      <!-- Title & Subtitle -->
      <p:sp>
        <p:nvSpPr>
          <p:cNvPr id="4" name="TitleBlock"/>
          <p:cNvSpPr/>
          <p:nvPr/>
        </p:nvSpPr>
        <p:spPr>
          <a:xfrm>
            <a:off x="685800" y="822960"/>
            <a:ext cx="10820400" cy="914400"/>
          </a:xfrm>
        </p:spPr>
        <p:txBody>
          <a:bodyPr vertOverflow="clip"/>
          <a:p>
            <a:r>
              <a:rPr lang="vi-VN" sz="2600" b="1">
                <a:solidFill>
                  <a:srgbClr val="FFFFFF"/>
                </a:solidFill>
              </a:rPr>
              <a:t>"Ảo giác an toàn": 97% Line Coverage vs. 67% Mutation Score</a:t>
            </a:r>
          </a:p>
          <a:p>
            <a:r>
              <a:rPr lang="vi-VN" sz="1400">
                <a:solidFill>
                  <a:srgbClr val="94A3B8"/>
                </a:solidFill>
              </a:rPr>
              <a:t>Vạch trần khoảng trống kiểm thử (Test Gap) 29.62% giữa việc chạy qua lệnh và bắt lỗi</a:t>
            </a:r>
          </a:p>
        </p:txBody>
      </p:sp>
      <!-- Message Banner -->
      <p:sp>
        <p:nvSpPr>
          <p:cNvPr id="5" name="MessageBanner"/>
          <p:cNvSpPr/>
          <p:nvPr/>
        </p:nvSpPr>
        <p:spPr>
          <a:xfrm>
            <a:off x="685800" y="1783080"/>
            <a:ext cx="10820400" cy="457200"/>
          </a:xfrm>
          <a:prstGeom prst="roundRect">
            <a:avLst>
              <a:gd name="adj" fmla="val 20000"/>
            </a:avLst>
          </a:prstGeom>
          <a:solidFill>
            <a:srgbClr val="1C2541"/>
          </a:solidFill>
          <a:ln w="19050">
            <a:solidFill>
              <a:srgbClr val="3A86FF"/>
            </a:solidFill>
          </a:ln>
        </p:spPr>
        <p:txBody>
          <a:bodyPr lIns="182880" tIns="91440" rIns="182880" bIns="91440"/>
          <a:p>
            <a:r>
              <a:rPr lang="vi-VN" sz="1400" b="1">
                <a:solidFill>
                  <a:srgbClr val="93C5FD"/>
                </a:solidFill>
              </a:rPr>
              <a:t>★ THÔNG ĐIỆP CỐT LÕI: Thực thi dòng mã (Execution) không đồng nghĩa với kiểm tra đúng đắn (Assertion &amp; Propagation)!</a:t>
            </a:r>
          </a:p>
        </p:txBody>
      </p:sp>
      <!-- Left Content Bullet Points -->
      <p:sp>
        <p:nvSpPr>
          <p:cNvPr id="6" name="ContentBullets"/>
          <p:cNvSpPr/>
          <p:nvPr/>
        </p:nvSpPr>
        <p:spPr>
          <a:xfrm>
            <a:off x="685800" y="2377440"/>
            <a:ext cx="5400000" cy="4023360"/>
          </a:xfrm>
        </p:spPr>
        <p:txBody>
          <a:bodyPr vertOverflow="clip"/>
          <a:p>
            <a:pPr marL="285750" indent="-285750">
              <a:buChar char="■"/>
            </a:pPr>
            <a:r>
              <a:rPr lang="vi-VN" sz="1500" dirty="0">
                <a:solidFill>
                  <a:srgbClr val="E2E8F0"/>
                </a:solidFill>
              </a:rPr>
              <a:t>Hiện tượng thực nghiệm tại gói owner.* (Hình G.1):• Bộ test gốc của Spring PetClinic đạt độ bao phủ dòng rất cao: 96.80% (242/250 lines).• Tuy nhiên, điểm Mutation Score ban đầu chỉ đạt khiêm tốn: 67.18% (131/195 killed).</a:t>
            </a:r>
          </a:p>
          <a:p>
            <a:pPr marL="285750" indent="-285750">
              <a:buChar char="■"/>
            </a:pPr>
            <a:r>
              <a:rPr lang="vi-VN" sz="1500" dirty="0">
                <a:solidFill>
                  <a:srgbClr val="E2E8F0"/>
                </a:solidFill>
              </a:rPr>
              <a:t>Khoảng trống kiểm thử nguy hiểm (Test Gap): Chênh lệch lên tới 29.62%!</a:t>
            </a:r>
          </a:p>
          <a:p>
            <a:pPr marL="285750" indent="-285750">
              <a:buChar char="■"/>
            </a:pPr>
            <a:r>
              <a:rPr lang="vi-VN" sz="1500" dirty="0">
                <a:solidFill>
                  <a:srgbClr val="E2E8F0"/>
                </a:solidFill>
              </a:rPr>
              <a:t>Vạch trần bản chất khoa học:• Line Coverage chỉ đo lường nạp lệnh vào CPU (Execution / Reachability).• Line Coverage hoàn toàn bỏ qua năng lực của Assertion và sự lan truyền lỗi (Propagation).</a:t>
            </a:r>
          </a:p>
          <a:p>
            <a:pPr marL="285750" indent="-285750">
              <a:buChar char="■"/>
            </a:pPr>
            <a:r>
              <a:rPr lang="vi-VN" sz="1500" dirty="0">
                <a:solidFill>
                  <a:srgbClr val="E2E8F0"/>
                </a:solidFill>
              </a:rPr>
              <a:t>Kết quả bứt phá của nhóm:• Đưa Line Coverage đạt tuyệt đối 100.00% (250/250 lines).• Đưa Mutation Score đạt 98.46% (192/195 killed), triệt tiêu hoàn toàn khoảng trống rủi ro!</a:t>
            </a:r>
          </a:p>
        </p:txBody>
      </p:sp>
      <p:pic>
        <p:nvPicPr>
          <p:cNvPr id="10" name="Picture"/>
          <p:cNvPicPr>
            <a:picLocks noChangeAspect="1"/>
          </p:cNvPicPr>
          <p:nvPr/>
        </p:nvPicPr>
        <p:blipFill>
          <a:blip r:embed="rIdImg1"/>
          <a:stretch>
            <a:fillRect/>
          </a:stretch>
        </p:blipFill>
        <p:spPr>
          <a:xfrm>
            <a:off x="6400000" y="2100000"/>
            <a:ext cx="5200000" cy="4200000"/>
          </a:xfrm>
          <a:prstGeom prst="rect">
            <a:avLst/>
          </a:prstGeom>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 Background Dark Rectangle -->
      <p:sp>
        <p:nvSpPr>
          <p:cNvPr id="2" name="Background"/>
          <p:cNvSpPr>
            <a:spLocks noMove="1" noResize="1"/>
          </p:cNvSpPr>
          <p:nvPr/>
        </p:nvSpPr>
        <p:spPr>
          <a:xfrm>
            <a:off x="0" y="0"/>
            <a:ext cx="12192000" cy="6858000"/>
          </a:xfrm>
          <a:prstGeom prst="rect">
            <a:avLst/>
          </a:prstGeom>
          <a:solidFill>
            <a:srgbClr val="0B132B"/>
          </a:solidFill>
        </p:spPr>
      </p:sp>
      <!-- Header Role & Time -->
      <p:sp>
        <p:nvSpPr>
          <p:cNvPr id="3" name="HeaderRole"/>
          <p:cNvSpPr/>
          <p:nvPr/>
        </p:nvSpPr>
        <p:spPr>
          <a:xfrm>
            <a:off x="685800" y="365760"/>
            <a:ext cx="10820400" cy="457200"/>
          </a:xfrm>
        </p:spPr>
        <p:txBody>
          <a:bodyPr vertOverflow="clip"/>
          <a:p>
            <a:r>
              <a:rPr lang="vi-VN" sz="1300" b="1">
                <a:solidFill>
                  <a:srgbClr val="3A86FF"/>
                </a:solidFill>
              </a:rPr>
              <a:t>TV5 (Hoàng Việt Linh)  |  75s (09:35 - 10:50)  |  Slide 8/12</a:t>
            </a:r>
          </a:p>
        </p:txBody>
      </p:sp>
      <!-- Title & Subtitle -->
      <p:sp>
        <p:nvSpPr>
          <p:cNvPr id="4" name="TitleBlock"/>
          <p:cNvSpPr/>
          <p:nvPr/>
        </p:nvSpPr>
        <p:spPr>
          <a:xfrm>
            <a:off x="685800" y="822960"/>
            <a:ext cx="10820400" cy="914400"/>
          </a:xfrm>
        </p:spPr>
        <p:txBody>
          <a:bodyPr vertOverflow="clip"/>
          <a:p>
            <a:r>
              <a:rPr lang="vi-VN" sz="2600" b="1">
                <a:solidFill>
                  <a:srgbClr val="FFFFFF"/>
                </a:solidFill>
              </a:rPr>
              <a:t>Phân tích nguyên nhân gốc rễ (RCA) 64 Survivors &amp; 6 Code Smells</a:t>
            </a:r>
          </a:p>
          <a:p>
            <a:r>
              <a:rPr lang="vi-VN" sz="1400">
                <a:solidFill>
                  <a:srgbClr val="94A3B8"/>
                </a:solidFill>
              </a:rPr>
              <a:t>Chuẩn hóa mô hình IEEE 1044 / IEEE 610.12 và giải mã 6 nhóm nguyên nhân khiếm khuyết</a:t>
            </a:r>
          </a:p>
        </p:txBody>
      </p:sp>
      <!-- Message Banner -->
      <p:sp>
        <p:nvSpPr>
          <p:cNvPr id="5" name="MessageBanner"/>
          <p:cNvSpPr/>
          <p:nvPr/>
        </p:nvSpPr>
        <p:spPr>
          <a:xfrm>
            <a:off x="685800" y="1783080"/>
            <a:ext cx="10820400" cy="457200"/>
          </a:xfrm>
          <a:prstGeom prst="roundRect">
            <a:avLst>
              <a:gd name="adj" fmla="val 20000"/>
            </a:avLst>
          </a:prstGeom>
          <a:solidFill>
            <a:srgbClr val="1C2541"/>
          </a:solidFill>
          <a:ln w="19050">
            <a:solidFill>
              <a:srgbClr val="3A86FF"/>
            </a:solidFill>
          </a:ln>
        </p:spPr>
        <p:txBody>
          <a:bodyPr lIns="182880" tIns="91440" rIns="182880" bIns="91440"/>
          <a:p>
            <a:r>
              <a:rPr lang="vi-VN" sz="1400" b="1">
                <a:solidFill>
                  <a:srgbClr val="93C5FD"/>
                </a:solidFill>
              </a:rPr>
              <a:t>★ THÔNG ĐIỆP CỐT LÕI: Hơn 64% mutants sống sót xuất phát từ thiếu Bảng quyết định và thiếu verify tương tác void</a:t>
            </a:r>
          </a:p>
        </p:txBody>
      </p:sp>
      <!-- Left Content Bullet Points -->
      <p:sp>
        <p:nvSpPr>
          <p:cNvPr id="6" name="ContentBullets"/>
          <p:cNvSpPr/>
          <p:nvPr/>
        </p:nvSpPr>
        <p:spPr>
          <a:xfrm>
            <a:off x="685800" y="2377440"/>
            <a:ext cx="5400000" cy="4023360"/>
          </a:xfrm>
        </p:spPr>
        <p:txBody>
          <a:bodyPr vertOverflow="clip"/>
          <a:p>
            <a:pPr marL="285750" indent="-285750">
              <a:buChar char="■"/>
            </a:pPr>
            <a:r>
              <a:rPr lang="vi-VN" sz="1500" dirty="0">
                <a:solidFill>
                  <a:srgbClr val="E2E8F0"/>
                </a:solidFill>
              </a:rPr>
              <a:t>Chuẩn hóa mô hình RCA: Áp dụng chuỗi chuyển hóa IEEE 1044 (Human Error → Fault → Failure).</a:t>
            </a:r>
          </a:p>
          <a:p>
            <a:pPr marL="285750" indent="-285750">
              <a:buChar char="■"/>
            </a:pPr>
            <a:r>
              <a:rPr lang="vi-VN" sz="1500" dirty="0">
                <a:solidFill>
                  <a:srgbClr val="E2E8F0"/>
                </a:solidFill>
              </a:rPr>
              <a:t>Phân bổ 64 Mutants sống sót ở Baseline vào 6 nhóm nguyên nhân (Bảng G.5, Hình G.3):• 1. Thiếu Bảng quyết định cho logic phức tạp: 27 mutants (42.19%).• 2. Thiếu verify tương tác hàm void/binder: 14 mutants (21.88%).• 3. Nhánh ngoại lệ &amp; luồng rẽ thiếu độ bao phủ: 9 mutants (14.06%).• 4. Phân tích giá trị biên BVA &amp; tính toán số học: 6 mutants (9.38%).• 5. MockMvc che giấu cập nhật &amp; gán dư thừa: 5 mutants (7.81%).• 6. Thiếu assert nội dung sâu &amp; giá trị trả về: 3 mutants (4.69%).</a:t>
            </a:r>
          </a:p>
          <a:p>
            <a:pPr marL="285750" indent="-285750">
              <a:buChar char="■"/>
            </a:pPr>
            <a:r>
              <a:rPr lang="vi-VN" sz="1500" dirty="0">
                <a:solidFill>
                  <a:srgbClr val="E2E8F0"/>
                </a:solidFill>
              </a:rPr>
              <a:t>Phát hiện 6 Code Smells trong PetClinic: Dead-Store dòng 167, điều kiện dư dòng 108, truy vấn lặp dòng 181... Ghi nhận độc lập mà không can thiệp mã nguồn.</a:t>
            </a:r>
          </a:p>
        </p:txBody>
      </p:sp>
      <p:pic>
        <p:nvPicPr>
          <p:cNvPr id="10" name="Picture"/>
          <p:cNvPicPr>
            <a:picLocks noChangeAspect="1"/>
          </p:cNvPicPr>
          <p:nvPr/>
        </p:nvPicPr>
        <p:blipFill>
          <a:blip r:embed="rIdImg1"/>
          <a:stretch>
            <a:fillRect/>
          </a:stretch>
        </p:blipFill>
        <p:spPr>
          <a:xfrm>
            <a:off x="6400000" y="2100000"/>
            <a:ext cx="5200000" cy="4200000"/>
          </a:xfrm>
          <a:prstGeom prst="rect">
            <a:avLst/>
          </a:prstGeom>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 Background Dark Rectangle -->
      <p:sp>
        <p:nvSpPr>
          <p:cNvPr id="2" name="Background"/>
          <p:cNvSpPr>
            <a:spLocks noMove="1" noResize="1"/>
          </p:cNvSpPr>
          <p:nvPr/>
        </p:nvSpPr>
        <p:spPr>
          <a:xfrm>
            <a:off x="0" y="0"/>
            <a:ext cx="12192000" cy="6858000"/>
          </a:xfrm>
          <a:prstGeom prst="rect">
            <a:avLst/>
          </a:prstGeom>
          <a:solidFill>
            <a:srgbClr val="0B132B"/>
          </a:solidFill>
        </p:spPr>
      </p:sp>
      <!-- Header Role & Time -->
      <p:sp>
        <p:nvSpPr>
          <p:cNvPr id="3" name="HeaderRole"/>
          <p:cNvSpPr/>
          <p:nvPr/>
        </p:nvSpPr>
        <p:spPr>
          <a:xfrm>
            <a:off x="685800" y="365760"/>
            <a:ext cx="10820400" cy="457200"/>
          </a:xfrm>
        </p:spPr>
        <p:txBody>
          <a:bodyPr vertOverflow="clip"/>
          <a:p>
            <a:r>
              <a:rPr lang="vi-VN" sz="1300" b="1">
                <a:solidFill>
                  <a:srgbClr val="3A86FF"/>
                </a:solidFill>
              </a:rPr>
              <a:t>TV5 (Hoàng Việt Linh)  |  70s (10:50 - 12:00)  |  Slide 9/12</a:t>
            </a:r>
          </a:p>
        </p:txBody>
      </p:sp>
      <!-- Title & Subtitle -->
      <p:sp>
        <p:nvSpPr>
          <p:cNvPr id="4" name="TitleBlock"/>
          <p:cNvSpPr/>
          <p:nvPr/>
        </p:nvSpPr>
        <p:spPr>
          <a:xfrm>
            <a:off x="685800" y="822960"/>
            <a:ext cx="10820400" cy="914400"/>
          </a:xfrm>
        </p:spPr>
        <p:txBody>
          <a:bodyPr vertOverflow="clip"/>
          <a:p>
            <a:r>
              <a:rPr lang="vi-VN" sz="2600" b="1">
                <a:solidFill>
                  <a:srgbClr val="FFFFFF"/>
                </a:solidFill>
              </a:rPr>
              <a:t>Chứng minh toán học 3 Equivalent Mutants &amp; Điểm hiệu chỉnh 100%</a:t>
            </a:r>
          </a:p>
          <a:p>
            <a:r>
              <a:rPr lang="vi-VN" sz="1400">
                <a:solidFill>
                  <a:srgbClr val="94A3B8"/>
                </a:solidFill>
              </a:rPr>
              <a:t>Đại số Boolean, Bảng chân trị 5 lớp tương đương và Đồ thị luồng CFG bất biến</a:t>
            </a:r>
          </a:p>
        </p:txBody>
      </p:sp>
      <!-- Message Banner -->
      <p:sp>
        <p:nvSpPr>
          <p:cNvPr id="5" name="MessageBanner"/>
          <p:cNvSpPr/>
          <p:nvPr/>
        </p:nvSpPr>
        <p:spPr>
          <a:xfrm>
            <a:off x="685800" y="1783080"/>
            <a:ext cx="10820400" cy="457200"/>
          </a:xfrm>
          <a:prstGeom prst="roundRect">
            <a:avLst>
              <a:gd name="adj" fmla="val 20000"/>
            </a:avLst>
          </a:prstGeom>
          <a:solidFill>
            <a:srgbClr val="1C2541"/>
          </a:solidFill>
          <a:ln w="19050">
            <a:solidFill>
              <a:srgbClr val="3A86FF"/>
            </a:solidFill>
          </a:ln>
        </p:spPr>
        <p:txBody>
          <a:bodyPr lIns="182880" tIns="91440" rIns="182880" bIns="91440"/>
          <a:p>
            <a:r>
              <a:rPr lang="vi-VN" sz="1400" b="1">
                <a:solidFill>
                  <a:srgbClr val="93C5FD"/>
                </a:solidFill>
              </a:rPr>
              <a:t>★ THÔNG ĐIỆP CỐT LÕI: 3 mutants sống sót cuối cùng là đột biến tương đương ⇒ Điểm hiệu chỉnh đạt tuyệt đối 100.00%!</a:t>
            </a:r>
          </a:p>
        </p:txBody>
      </p:sp>
      <!-- Left Content Bullet Points -->
      <p:sp>
        <p:nvSpPr>
          <p:cNvPr id="6" name="ContentBullets"/>
          <p:cNvSpPr/>
          <p:nvPr/>
        </p:nvSpPr>
        <p:spPr>
          <a:xfrm>
            <a:off x="685800" y="2377440"/>
            <a:ext cx="10820400" cy="4023360"/>
          </a:xfrm>
        </p:spPr>
        <p:txBody>
          <a:bodyPr vertOverflow="clip"/>
          <a:p>
            <a:pPr marL="285750" indent="-285750">
              <a:buChar char="■"/>
            </a:pPr>
            <a:r>
              <a:rPr lang="vi-VN" sz="1500" dirty="0">
                <a:solidFill>
                  <a:srgbClr val="E2E8F0"/>
                </a:solidFill>
              </a:rPr>
              <a:t>Định nghĩa toán học: ∀ I ∈ D, P(I) ≡ M(I) ⇒ Bất khả tiêu diệt bởi bất kỳ ca test nào!</a:t>
            </a:r>
          </a:p>
          <a:p>
            <a:pPr marL="285750" indent="-285750">
              <a:buChar char="■"/>
            </a:pPr>
            <a:r>
              <a:rPr lang="vi-VN" sz="1500" dirty="0">
                <a:solidFill>
                  <a:srgbClr val="E2E8F0"/>
                </a:solidFill>
              </a:rPr>
              <a:t>Mutant M1 &amp;amp; M2 (Owner.java:108 — ép !isNew() thành true):• Vì isNew() ⇔ id == null, khi ID khác null điều kiện phụ thuộc hoàn toàn vào Objects.equals(id1, id2).• Bảng chân trị 5 lớp tương đương chứng minh C_orig ≡ C_M1 ≡ C_M2 trên 100% không gian trạng thái (đã kiểm chứng tự động bằng script Python 9/9 case).</a:t>
            </a:r>
          </a:p>
          <a:p>
            <a:pPr marL="285750" indent="-285750">
              <a:buChar char="■"/>
            </a:pPr>
            <a:r>
              <a:rPr lang="vi-VN" sz="1500" dirty="0">
                <a:solidFill>
                  <a:srgbClr val="E2E8F0"/>
                </a:solidFill>
              </a:rPr>
              <a:t>Mutant M3 (OwnerController.java:167 — xóa owner.setId(ownerId)):• Đồ thị luồng CFG chứng minh khối guard dòng 161 đã bảo toàn bất biến owner.getId() == ownerId trước khi chạm dòng 167 ⇒ Lệnh gán là dead-store thuần túy.</a:t>
            </a:r>
          </a:p>
          <a:p>
            <a:pPr marL="285750" indent="-285750">
              <a:buChar char="■"/>
            </a:pPr>
            <a:r>
              <a:rPr lang="vi-VN" sz="1500" dirty="0">
                <a:solidFill>
                  <a:srgbClr val="E2E8F0"/>
                </a:solidFill>
              </a:rPr>
              <a:t>Điểm số hiệu chỉnh học thuật (Adjusted Mutation Score):• Điểm thô chính thức của PIT: 192 / 195 = 98.46%.• Điểm hiệu chỉnh khả thi: 192 / (195 - 3) = 192 / 192 = 100.00% (Hoàn hảo).</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 Background Dark Rectangle -->
      <p:sp>
        <p:nvSpPr>
          <p:cNvPr id="2" name="Background"/>
          <p:cNvSpPr>
            <a:spLocks noMove="1" noResize="1"/>
          </p:cNvSpPr>
          <p:nvPr/>
        </p:nvSpPr>
        <p:spPr>
          <a:xfrm>
            <a:off x="0" y="0"/>
            <a:ext cx="12192000" cy="6858000"/>
          </a:xfrm>
          <a:prstGeom prst="rect">
            <a:avLst/>
          </a:prstGeom>
          <a:solidFill>
            <a:srgbClr val="0B132B"/>
          </a:solidFill>
        </p:spPr>
      </p:sp>
      <!-- Header Role & Time -->
      <p:sp>
        <p:nvSpPr>
          <p:cNvPr id="3" name="HeaderRole"/>
          <p:cNvSpPr/>
          <p:nvPr/>
        </p:nvSpPr>
        <p:spPr>
          <a:xfrm>
            <a:off x="685800" y="365760"/>
            <a:ext cx="10820400" cy="457200"/>
          </a:xfrm>
        </p:spPr>
        <p:txBody>
          <a:bodyPr vertOverflow="clip"/>
          <a:p>
            <a:r>
              <a:rPr lang="vi-VN" sz="1300" b="1">
                <a:solidFill>
                  <a:srgbClr val="3A86FF"/>
                </a:solidFill>
              </a:rPr>
              <a:t>TV1 (Trịnh Trung Hiếu)  |  75s (12:00 - 13:15)  |  Slide 10/12</a:t>
            </a:r>
          </a:p>
        </p:txBody>
      </p:sp>
      <!-- Title & Subtitle -->
      <p:sp>
        <p:nvSpPr>
          <p:cNvPr id="4" name="TitleBlock"/>
          <p:cNvSpPr/>
          <p:nvPr/>
        </p:nvSpPr>
        <p:spPr>
          <a:xfrm>
            <a:off x="685800" y="822960"/>
            <a:ext cx="10820400" cy="914400"/>
          </a:xfrm>
        </p:spPr>
        <p:txBody>
          <a:bodyPr vertOverflow="clip"/>
          <a:p>
            <a:r>
              <a:rPr lang="vi-VN" sz="2600" b="1">
                <a:solidFill>
                  <a:srgbClr val="FFFFFF"/>
                </a:solidFill>
              </a:rPr>
              <a:t>Đường ống CI/CD GitHub Actions &amp; Tính khả tái 1-lệnh</a:t>
            </a:r>
          </a:p>
          <a:p>
            <a:r>
              <a:rPr lang="vi-VN" sz="1400">
                <a:solidFill>
                  <a:srgbClr val="94A3B8"/>
                </a:solidFill>
              </a:rPr>
              <a:t>Tự động hóa toàn diện 6 bước Fail-Fast và kiểm chứng thực nghiệm trong 35–45 giây</a:t>
            </a:r>
          </a:p>
        </p:txBody>
      </p:sp>
      <!-- Message Banner -->
      <p:sp>
        <p:nvSpPr>
          <p:cNvPr id="5" name="MessageBanner"/>
          <p:cNvSpPr/>
          <p:nvPr/>
        </p:nvSpPr>
        <p:spPr>
          <a:xfrm>
            <a:off x="685800" y="1783080"/>
            <a:ext cx="10820400" cy="457200"/>
          </a:xfrm>
          <a:prstGeom prst="roundRect">
            <a:avLst>
              <a:gd name="adj" fmla="val 20000"/>
            </a:avLst>
          </a:prstGeom>
          <a:solidFill>
            <a:srgbClr val="1C2541"/>
          </a:solidFill>
          <a:ln w="19050">
            <a:solidFill>
              <a:srgbClr val="3A86FF"/>
            </a:solidFill>
          </a:ln>
        </p:spPr>
        <p:txBody>
          <a:bodyPr lIns="182880" tIns="91440" rIns="182880" bIns="91440"/>
          <a:p>
            <a:r>
              <a:rPr lang="vi-VN" sz="1400" b="1">
                <a:solidFill>
                  <a:srgbClr val="93C5FD"/>
                </a:solidFill>
              </a:rPr>
              <a:t>★ THÔNG ĐIỆP CỐT LÕI: Đóng gói toàn diện kịch bản CI/CD trên cloud và lệnh thực thi tức thì trên máy trạm</a:t>
            </a:r>
          </a:p>
        </p:txBody>
      </p:sp>
      <!-- Left Content Bullet Points -->
      <p:sp>
        <p:nvSpPr>
          <p:cNvPr id="6" name="ContentBullets"/>
          <p:cNvSpPr/>
          <p:nvPr/>
        </p:nvSpPr>
        <p:spPr>
          <a:xfrm>
            <a:off x="685800" y="2377440"/>
            <a:ext cx="10820400" cy="4023360"/>
          </a:xfrm>
        </p:spPr>
        <p:txBody>
          <a:bodyPr vertOverflow="clip"/>
          <a:p>
            <a:pPr marL="285750" indent="-285750">
              <a:buChar char="■"/>
            </a:pPr>
            <a:r>
              <a:rPr lang="vi-VN" sz="1500" dirty="0">
                <a:solidFill>
                  <a:srgbClr val="E2E8F0"/>
                </a:solidFill>
              </a:rPr>
              <a:t>Đường ống CI/CD 6 bước Fail-Fast (.github/workflows/mutation-test.yml):• Bước 1 &amp;amp; 2: Checkout mã nguồn actions/checkout@v4 &amp;amp; Setup JDK 17 Temurin + Maven Cache.• Bước 3: Cổng kiểm thử nhanh: Chạy 153 Unit Tests (ngắt ngay lập tức nếu phát sinh hồi quy).• Bước 4: Cổng chất lượng K03: Thực thi PIT Mutation Testing &amp;amp; chặn build nếu score &amp;lt; 88%.• Bước 5: Xuất bảng tóm tắt trực quan $GITHUB_STEP_SUMMARY lên giao diện GitHub Actions.• Bước 6: Đóng gói và lưu trữ Artifacts báo cáo HTML/XML trong 30 ngày.</a:t>
            </a:r>
          </a:p>
          <a:p>
            <a:pPr marL="285750" indent="-285750">
              <a:buChar char="■"/>
            </a:pPr>
            <a:r>
              <a:rPr lang="vi-VN" sz="1500" dirty="0">
                <a:solidFill>
                  <a:srgbClr val="E2E8F0"/>
                </a:solidFill>
              </a:rPr>
              <a:t>Tính khả tái thực nghiệm 1-lệnh (One-Liner Reproducibility):• PowerShell: ./mvnw.cmd test-compile org.pitest:pitest-maven:mutationCoverage '-Djacoco.skip=true'• Thời gian chạy thực tế: ~35–45 giây trên máy trạm thông thường.</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 Background Dark Rectangle -->
      <p:sp>
        <p:nvSpPr>
          <p:cNvPr id="2" name="Background"/>
          <p:cNvSpPr>
            <a:spLocks noMove="1" noResize="1"/>
          </p:cNvSpPr>
          <p:nvPr/>
        </p:nvSpPr>
        <p:spPr>
          <a:xfrm>
            <a:off x="0" y="0"/>
            <a:ext cx="12192000" cy="6858000"/>
          </a:xfrm>
          <a:prstGeom prst="rect">
            <a:avLst/>
          </a:prstGeom>
          <a:solidFill>
            <a:srgbClr val="0B132B"/>
          </a:solidFill>
        </p:spPr>
      </p:sp>
      <!-- Header Role & Time -->
      <p:sp>
        <p:nvSpPr>
          <p:cNvPr id="3" name="HeaderRole"/>
          <p:cNvSpPr/>
          <p:nvPr/>
        </p:nvSpPr>
        <p:spPr>
          <a:xfrm>
            <a:off x="685800" y="365760"/>
            <a:ext cx="10820400" cy="457200"/>
          </a:xfrm>
        </p:spPr>
        <p:txBody>
          <a:bodyPr vertOverflow="clip"/>
          <a:p>
            <a:r>
              <a:rPr lang="vi-VN" sz="1300" b="1">
                <a:solidFill>
                  <a:srgbClr val="3A86FF"/>
                </a:solidFill>
              </a:rPr>
              <a:t>TV5 (Hoàng Việt Linh)  |  60s (13:15 - 14:15)  |  Slide 11/12</a:t>
            </a:r>
          </a:p>
        </p:txBody>
      </p:sp>
      <!-- Title & Subtitle -->
      <p:sp>
        <p:nvSpPr>
          <p:cNvPr id="4" name="TitleBlock"/>
          <p:cNvSpPr/>
          <p:nvPr/>
        </p:nvSpPr>
        <p:spPr>
          <a:xfrm>
            <a:off x="685800" y="822960"/>
            <a:ext cx="10820400" cy="914400"/>
          </a:xfrm>
        </p:spPr>
        <p:txBody>
          <a:bodyPr vertOverflow="clip"/>
          <a:p>
            <a:r>
              <a:rPr lang="vi-VN" sz="2600" b="1">
                <a:solidFill>
                  <a:srgbClr val="FFFFFF"/>
                </a:solidFill>
              </a:rPr>
              <a:t>Tổng kết đối sánh Baseline vs Final &amp; 4 Bài học kinh nghiệm</a:t>
            </a:r>
          </a:p>
          <a:p>
            <a:r>
              <a:rPr lang="vi-VN" sz="1400">
                <a:solidFill>
                  <a:srgbClr val="94A3B8"/>
                </a:solidFill>
              </a:rPr>
              <a:t>Bứt phá toàn diện mọi chỉ số kiểm thử và đúc kết 4 bài học thực tiễn vô giá</a:t>
            </a:r>
          </a:p>
        </p:txBody>
      </p:sp>
      <!-- Message Banner -->
      <p:sp>
        <p:nvSpPr>
          <p:cNvPr id="5" name="MessageBanner"/>
          <p:cNvSpPr/>
          <p:nvPr/>
        </p:nvSpPr>
        <p:spPr>
          <a:xfrm>
            <a:off x="685800" y="1783080"/>
            <a:ext cx="10820400" cy="457200"/>
          </a:xfrm>
          <a:prstGeom prst="roundRect">
            <a:avLst>
              <a:gd name="adj" fmla="val 20000"/>
            </a:avLst>
          </a:prstGeom>
          <a:solidFill>
            <a:srgbClr val="1C2541"/>
          </a:solidFill>
          <a:ln w="19050">
            <a:solidFill>
              <a:srgbClr val="3A86FF"/>
            </a:solidFill>
          </a:ln>
        </p:spPr>
        <p:txBody>
          <a:bodyPr lIns="182880" tIns="91440" rIns="182880" bIns="91440"/>
          <a:p>
            <a:r>
              <a:rPr lang="vi-VN" sz="1400" b="1">
                <a:solidFill>
                  <a:srgbClr val="93C5FD"/>
                </a:solidFill>
              </a:rPr>
              <a:t>★ THÔNG ĐIỆP CỐT LÕI: Số test tăng từ 49 lên 130, triệt tiêu 100% vùng mã mù và đạt điểm hiệu chỉnh 100.00%</a:t>
            </a:r>
          </a:p>
        </p:txBody>
      </p:sp>
      <!-- Left Content Bullet Points -->
      <p:sp>
        <p:nvSpPr>
          <p:cNvPr id="6" name="ContentBullets"/>
          <p:cNvSpPr/>
          <p:nvPr/>
        </p:nvSpPr>
        <p:spPr>
          <a:xfrm>
            <a:off x="685800" y="2377440"/>
            <a:ext cx="5400000" cy="4023360"/>
          </a:xfrm>
        </p:spPr>
        <p:txBody>
          <a:bodyPr vertOverflow="clip"/>
          <a:p>
            <a:pPr marL="285750" indent="-285750">
              <a:buChar char="■"/>
            </a:pPr>
            <a:r>
              <a:rPr lang="vi-VN" sz="1500" dirty="0">
                <a:solidFill>
                  <a:srgbClr val="E2E8F0"/>
                </a:solidFill>
              </a:rPr>
              <a:t>Bảng đối sánh chỉ số cốt lõi (Khớp 100% metrics_summary.csv):• Số lượng test gói owner: 49 → 130 tests (+81 tests) | Toàn dự án: 153 pass.• Line Coverage: 96.80% (242/250) → 100.00% (250/250 lines).• Mutants Killed: 131 / 195 (67.18%) → 192 / 195 (98.46%) (≥ 88%).• Mutants Survived: 55 → 3 mutants (100% Equivalent Mutants).• Mutants No Coverage: 9 → 0 mutants (Triệt tiêu hoàn toàn vùng mù).• Điểm số hiệu chỉnh: 68.23% → 100.00% (192/192).</a:t>
            </a:r>
          </a:p>
          <a:p>
            <a:pPr marL="285750" indent="-285750">
              <a:buChar char="■"/>
            </a:pPr>
            <a:r>
              <a:rPr lang="vi-VN" sz="1500" dirty="0">
                <a:solidFill>
                  <a:srgbClr val="E2E8F0"/>
                </a:solidFill>
              </a:rPr>
              <a:t>4 Bài học kinh nghiệm thực tiễn:1. Line Coverage cao tạo an tâm giả tạo; Mutation Testing là thước đo chất lượng thực sự.2. Cảnh giác cạm bẫy Model Aliasing của Spring MockMvc; bắt buộc có POJO Unit Test.3. Bắt buộc kiểm tra tương tác (Interaction Testing) bằng verify cho các phương thức void.4. Kỹ thuật hộp trắng (BVA, Decision Table, Basis Path) là vũ khí tối thượng diệt mutant.</a:t>
            </a:r>
          </a:p>
        </p:txBody>
      </p:sp>
      <p:pic>
        <p:nvPicPr>
          <p:cNvPr id="10" name="Picture"/>
          <p:cNvPicPr>
            <a:picLocks noChangeAspect="1"/>
          </p:cNvPicPr>
          <p:nvPr/>
        </p:nvPicPr>
        <p:blipFill>
          <a:blip r:embed="rIdImg1"/>
          <a:stretch>
            <a:fillRect/>
          </a:stretch>
        </p:blipFill>
        <p:spPr>
          <a:xfrm>
            <a:off x="6400000" y="2100000"/>
            <a:ext cx="5200000" cy="4200000"/>
          </a:xfrm>
          <a:prstGeom prst="rect">
            <a:avLst/>
          </a:prstGeom>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 Background Dark Rectangle -->
      <p:sp>
        <p:nvSpPr>
          <p:cNvPr id="2" name="Background"/>
          <p:cNvSpPr>
            <a:spLocks noMove="1" noResize="1"/>
          </p:cNvSpPr>
          <p:nvPr/>
        </p:nvSpPr>
        <p:spPr>
          <a:xfrm>
            <a:off x="0" y="0"/>
            <a:ext cx="12192000" cy="6858000"/>
          </a:xfrm>
          <a:prstGeom prst="rect">
            <a:avLst/>
          </a:prstGeom>
          <a:solidFill>
            <a:srgbClr val="0B132B"/>
          </a:solidFill>
        </p:spPr>
      </p:sp>
      <!-- Header Role & Time -->
      <p:sp>
        <p:nvSpPr>
          <p:cNvPr id="3" name="HeaderRole"/>
          <p:cNvSpPr/>
          <p:nvPr/>
        </p:nvSpPr>
        <p:spPr>
          <a:xfrm>
            <a:off x="685800" y="365760"/>
            <a:ext cx="10820400" cy="457200"/>
          </a:xfrm>
        </p:spPr>
        <p:txBody>
          <a:bodyPr vertOverflow="clip"/>
          <a:p>
            <a:r>
              <a:rPr lang="vi-VN" sz="1300" b="1">
                <a:solidFill>
                  <a:srgbClr val="3A86FF"/>
                </a:solidFill>
              </a:rPr>
              <a:t>Toàn nhóm (Nhóm 20)  |  45s (14:15 - 15:00)  |  Slide 12/12</a:t>
            </a:r>
          </a:p>
        </p:txBody>
      </p:sp>
      <!-- Title & Subtitle -->
      <p:sp>
        <p:nvSpPr>
          <p:cNvPr id="4" name="TitleBlock"/>
          <p:cNvSpPr/>
          <p:nvPr/>
        </p:nvSpPr>
        <p:spPr>
          <a:xfrm>
            <a:off x="685800" y="822960"/>
            <a:ext cx="10820400" cy="914400"/>
          </a:xfrm>
        </p:spPr>
        <p:txBody>
          <a:bodyPr vertOverflow="clip"/>
          <a:p>
            <a:r>
              <a:rPr lang="vi-VN" sz="2600" b="1">
                <a:solidFill>
                  <a:srgbClr val="FFFFFF"/>
                </a:solidFill>
              </a:rPr>
              <a:t>LỜI CẢM ƠN VÀ SẴN SÀNG CHO PHIÊN HỎI ĐÁP (Q&amp;A)</a:t>
            </a:r>
          </a:p>
          <a:p>
            <a:r>
              <a:rPr lang="vi-VN" sz="1400">
                <a:solidFill>
                  <a:srgbClr val="94A3B8"/>
                </a:solidFill>
              </a:rPr>
              <a:t>Chân thành cảm ơn ThS. Nguyễn Thế Lâm và Hội đồng chấm đề tài Kiểm thử phần mềm</a:t>
            </a:r>
          </a:p>
        </p:txBody>
      </p:sp>
      <!-- Message Banner -->
      <p:sp>
        <p:nvSpPr>
          <p:cNvPr id="5" name="MessageBanner"/>
          <p:cNvSpPr/>
          <p:nvPr/>
        </p:nvSpPr>
        <p:spPr>
          <a:xfrm>
            <a:off x="685800" y="1783080"/>
            <a:ext cx="10820400" cy="457200"/>
          </a:xfrm>
          <a:prstGeom prst="roundRect">
            <a:avLst>
              <a:gd name="adj" fmla="val 20000"/>
            </a:avLst>
          </a:prstGeom>
          <a:solidFill>
            <a:srgbClr val="1C2541"/>
          </a:solidFill>
          <a:ln w="19050">
            <a:solidFill>
              <a:srgbClr val="3A86FF"/>
            </a:solidFill>
          </a:ln>
        </p:spPr>
        <p:txBody>
          <a:bodyPr lIns="182880" tIns="91440" rIns="182880" bIns="91440"/>
          <a:p>
            <a:r>
              <a:rPr lang="vi-VN" sz="1400" b="1">
                <a:solidFill>
                  <a:srgbClr val="93C5FD"/>
                </a:solidFill>
              </a:rPr>
              <a:t>★ THÔNG ĐIỆP CỐT LÕI: Toàn thể 5 thành viên Nhóm 20 sẵn sàng đón nhận câu hỏi phản biện từ Hội đồng!</a:t>
            </a:r>
          </a:p>
        </p:txBody>
      </p:sp>
      <!-- Left Content Bullet Points -->
      <p:sp>
        <p:nvSpPr>
          <p:cNvPr id="6" name="ContentBullets"/>
          <p:cNvSpPr/>
          <p:nvPr/>
        </p:nvSpPr>
        <p:spPr>
          <a:xfrm>
            <a:off x="685800" y="2377440"/>
            <a:ext cx="10820400" cy="4023360"/>
          </a:xfrm>
        </p:spPr>
        <p:txBody>
          <a:bodyPr vertOverflow="clip"/>
          <a:p>
            <a:pPr marL="285750" indent="-285750">
              <a:buChar char="■"/>
            </a:pPr>
            <a:r>
              <a:rPr lang="vi-VN" sz="1500" dirty="0">
                <a:solidFill>
                  <a:srgbClr val="E2E8F0"/>
                </a:solidFill>
              </a:rPr>
              <a:t>Lời cảm ơn: Nhóm 20 xin chân thành cảm ơn ThS. Nguyễn Thế Lâm đã tận tình định hướng, hỗ trợ và truyền cảm hứng trong suốt học phần.</a:t>
            </a:r>
          </a:p>
          <a:p>
            <a:pPr marL="285750" indent="-285750">
              <a:buChar char="■"/>
            </a:pPr>
            <a:r>
              <a:rPr lang="vi-VN" sz="1500" dirty="0">
                <a:solidFill>
                  <a:srgbClr val="E2E8F0"/>
                </a:solidFill>
              </a:rPr>
              <a:t>Cam kết chất lượng: Đề tài đã hoàn thành xuất sắc toàn bộ mục tiêu với tinh thần khoa học trung thực, minh bạch.</a:t>
            </a:r>
          </a:p>
          <a:p>
            <a:pPr marL="285750" indent="-285750">
              <a:buChar char="■"/>
            </a:pPr>
            <a:r>
              <a:rPr lang="vi-VN" sz="1500" dirty="0">
                <a:solidFill>
                  <a:srgbClr val="E2E8F0"/>
                </a:solidFill>
              </a:rPr>
              <a:t>Lưu trữ mã nguồn: Toàn bộ source code, bộ test, tài liệu báo cáo và nhật ký thực nghiệm được lưu trữ đầy đủ tại GitHub Repository của nhóm.</a:t>
            </a:r>
          </a:p>
          <a:p>
            <a:pPr marL="285750" indent="-285750">
              <a:buChar char="■"/>
            </a:pPr>
            <a:r>
              <a:rPr lang="vi-VN" sz="1500" dirty="0">
                <a:solidFill>
                  <a:srgbClr val="E2E8F0"/>
                </a:solidFill>
              </a:rPr>
              <a:t>SẴN SÀNG CHO PHIÊN PHẢN BIỆN: Kính mời quý Thầy Cô và Hội đồng đặt câu hỏi!</a:t>
            </a:r>
          </a:p>
        </p:txBody>
      </p:sp>
    </p:spTree>
  </p:cSld>
</p:sld>
</file>

<file path=ppt/theme/theme1.xml><?xml version="1.0" encoding="utf-8"?>
<a:theme xmlns:a="http://schemas.openxmlformats.org/drawingml/2006/main" name="PetClinic Deep Navy Theme">
  <a:themeElements>
    <a:clrScheme name="PetClinic">
      <a:dk1>
        <a:srgbClr val="0B132B"/>
      </a:dk1>
      <a:lt1>
        <a:srgbClr val="FFFFFF"/>
      </a:lt1>
      <a:dk2>
        <a:srgbClr val="1C2541"/>
      </a:dk2>
      <a:lt2>
        <a:srgbClr val="E2E8F0"/>
      </a:lt2>
      <a:accent1>
        <a:srgbClr val="3A86FF"/>
      </a:accent1>
      <a:accent2>
        <a:srgbClr val="10B981"/>
      </a:accent2>
      <a:accent3>
        <a:srgbClr val="F59E0B"/>
      </a:accent3>
      <a:accent4>
        <a:srgbClr val="EF4444"/>
      </a:accent4>
      <a:accent5>
        <a:srgbClr val="8B5CF6"/>
      </a:accent5>
      <a:accent6>
        <a:srgbClr val="06B6D4"/>
      </a:accent6>
      <a:hlink>
        <a:srgbClr val="3A86FF"/>
      </a:hlink>
      <a:folHlink>
        <a:srgbClr val="8B5CF6"/>
      </a:folHlink>
    </a:clrScheme>
    <a:fontScheme name="Modern Sans">
      <a:majorFont>
        <a:latin typeface="Segoe UI"/>
        <a:ea typeface=""/>
        <a:cs typeface=""/>
      </a:majorFont>
      <a:minorFont>
        <a:latin typeface="Segoe UI"/>
        <a:ea typeface=""/>
        <a:cs typeface=""/>
      </a:minorFont>
    </a:fontScheme>
    <a:fmtScheme name="Office">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theme>
</file>